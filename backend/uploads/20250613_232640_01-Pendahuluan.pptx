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6"/>
  </p:notesMasterIdLst>
  <p:sldIdLst>
    <p:sldId id="256" r:id="rId2"/>
    <p:sldId id="261" r:id="rId3"/>
    <p:sldId id="262" r:id="rId4"/>
    <p:sldId id="263" r:id="rId5"/>
    <p:sldId id="264" r:id="rId6"/>
    <p:sldId id="265" r:id="rId7"/>
    <p:sldId id="266" r:id="rId8"/>
    <p:sldId id="267" r:id="rId9"/>
    <p:sldId id="268" r:id="rId10"/>
    <p:sldId id="269" r:id="rId11"/>
    <p:sldId id="284" r:id="rId12"/>
    <p:sldId id="288" r:id="rId13"/>
    <p:sldId id="260" r:id="rId14"/>
    <p:sldId id="28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1"/>
    <p:restoredTop sz="94663"/>
  </p:normalViewPr>
  <p:slideViewPr>
    <p:cSldViewPr>
      <p:cViewPr varScale="1">
        <p:scale>
          <a:sx n="112" d="100"/>
          <a:sy n="112" d="100"/>
        </p:scale>
        <p:origin x="720" y="200"/>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71EA72-A763-5F41-8FC8-FFB36E45A1A1}" type="datetimeFigureOut">
              <a:t>2/11/25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E8FABF-E03C-D44E-B8C9-D1E6D34C16BC}" type="slidenum">
              <a:t>‹#›</a:t>
            </a:fld>
            <a:endParaRPr lang="en-US"/>
          </a:p>
        </p:txBody>
      </p:sp>
    </p:spTree>
    <p:extLst>
      <p:ext uri="{BB962C8B-B14F-4D97-AF65-F5344CB8AC3E}">
        <p14:creationId xmlns:p14="http://schemas.microsoft.com/office/powerpoint/2010/main" val="1287887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E8FABF-E03C-D44E-B8C9-D1E6D34C16BC}" type="slidenum">
              <a:t>7</a:t>
            </a:fld>
            <a:endParaRPr lang="en-US"/>
          </a:p>
        </p:txBody>
      </p:sp>
    </p:spTree>
    <p:extLst>
      <p:ext uri="{BB962C8B-B14F-4D97-AF65-F5344CB8AC3E}">
        <p14:creationId xmlns:p14="http://schemas.microsoft.com/office/powerpoint/2010/main" val="995449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pPr>
              <a:defRPr/>
            </a:pPr>
            <a:fld id="{A18E7A16-56D8-364F-8647-9739FE494C40}" type="datetimeFigureOut">
              <a:rPr lang="en-US"/>
              <a:pPr>
                <a:defRPr/>
              </a:pPr>
              <a:t>2/11/25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75F263E3-54D9-AE4E-9400-7B7B5F424073}" type="slidenum">
              <a:rPr lang="en-US" altLang="en-US"/>
              <a:pPr/>
              <a:t>‹#›</a:t>
            </a:fld>
            <a:endParaRPr lang="en-US" altLang="en-US"/>
          </a:p>
        </p:txBody>
      </p:sp>
    </p:spTree>
    <p:extLst>
      <p:ext uri="{BB962C8B-B14F-4D97-AF65-F5344CB8AC3E}">
        <p14:creationId xmlns:p14="http://schemas.microsoft.com/office/powerpoint/2010/main" val="1069311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fld id="{3E8B79B3-11BC-D34E-BF46-F4117AAE2D70}" type="datetimeFigureOut">
              <a:rPr lang="en-US"/>
              <a:pPr>
                <a:defRPr/>
              </a:pPr>
              <a:t>2/11/25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8F5ABC41-9E4E-BA48-8505-EAF81BA31429}" type="slidenum">
              <a:rPr lang="en-US" altLang="en-US"/>
              <a:pPr/>
              <a:t>‹#›</a:t>
            </a:fld>
            <a:endParaRPr lang="en-US" altLang="en-US"/>
          </a:p>
        </p:txBody>
      </p:sp>
    </p:spTree>
    <p:extLst>
      <p:ext uri="{BB962C8B-B14F-4D97-AF65-F5344CB8AC3E}">
        <p14:creationId xmlns:p14="http://schemas.microsoft.com/office/powerpoint/2010/main" val="344543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pPr>
              <a:defRPr/>
            </a:pPr>
            <a:fld id="{D94CB390-EC6A-234B-87EC-D924AB52DFE8}" type="datetimeFigureOut">
              <a:rPr lang="en-US"/>
              <a:pPr>
                <a:defRPr/>
              </a:pPr>
              <a:t>2/11/25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4F9B3960-BBFF-654B-931C-81163D87CCF4}" type="slidenum">
              <a:rPr lang="en-US" altLang="en-US"/>
              <a:pPr/>
              <a:t>‹#›</a:t>
            </a:fld>
            <a:endParaRPr lang="en-US" altLang="en-US"/>
          </a:p>
        </p:txBody>
      </p:sp>
    </p:spTree>
    <p:extLst>
      <p:ext uri="{BB962C8B-B14F-4D97-AF65-F5344CB8AC3E}">
        <p14:creationId xmlns:p14="http://schemas.microsoft.com/office/powerpoint/2010/main" val="3575221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pPr>
              <a:defRPr/>
            </a:pPr>
            <a:fld id="{6B9E1B23-30F7-F147-AD75-4F0A92FD4135}" type="datetimeFigureOut">
              <a:rPr lang="en-US"/>
              <a:pPr>
                <a:defRPr/>
              </a:pPr>
              <a:t>2/11/25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2EB50E99-F38E-0742-AFCC-A2E732D39AF4}" type="slidenum">
              <a:rPr lang="en-US" altLang="en-US"/>
              <a:pPr/>
              <a:t>‹#›</a:t>
            </a:fld>
            <a:endParaRPr lang="en-US" altLang="en-US"/>
          </a:p>
        </p:txBody>
      </p:sp>
    </p:spTree>
    <p:extLst>
      <p:ext uri="{BB962C8B-B14F-4D97-AF65-F5344CB8AC3E}">
        <p14:creationId xmlns:p14="http://schemas.microsoft.com/office/powerpoint/2010/main" val="4174298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pPr>
              <a:defRPr/>
            </a:pPr>
            <a:fld id="{47B0163F-B335-FE4B-9B23-DABFC90434EA}" type="datetimeFigureOut">
              <a:rPr lang="en-US"/>
              <a:pPr>
                <a:defRPr/>
              </a:pPr>
              <a:t>2/11/25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5BAE1C1D-3800-EF4B-8CC5-15FC47AE772D}" type="slidenum">
              <a:rPr lang="en-US" altLang="en-US"/>
              <a:pPr/>
              <a:t>‹#›</a:t>
            </a:fld>
            <a:endParaRPr lang="en-US" altLang="en-US"/>
          </a:p>
        </p:txBody>
      </p:sp>
    </p:spTree>
    <p:extLst>
      <p:ext uri="{BB962C8B-B14F-4D97-AF65-F5344CB8AC3E}">
        <p14:creationId xmlns:p14="http://schemas.microsoft.com/office/powerpoint/2010/main" val="2961796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pPr>
              <a:defRPr/>
            </a:pPr>
            <a:fld id="{DA7B2363-AFC3-E34B-8949-57A14062CD8E}" type="datetimeFigureOut">
              <a:rPr lang="en-US"/>
              <a:pPr>
                <a:defRPr/>
              </a:pPr>
              <a:t>2/11/25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6C5098A2-5CA1-FA4E-8179-9819E3AF4E26}" type="slidenum">
              <a:rPr lang="en-US" altLang="en-US"/>
              <a:pPr/>
              <a:t>‹#›</a:t>
            </a:fld>
            <a:endParaRPr lang="en-US" altLang="en-US"/>
          </a:p>
        </p:txBody>
      </p:sp>
    </p:spTree>
    <p:extLst>
      <p:ext uri="{BB962C8B-B14F-4D97-AF65-F5344CB8AC3E}">
        <p14:creationId xmlns:p14="http://schemas.microsoft.com/office/powerpoint/2010/main" val="122998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56B6D978-2D41-E845-82AE-BD3F3C1B823B}" type="datetimeFigureOut">
              <a:rPr lang="en-US"/>
              <a:pPr>
                <a:defRPr/>
              </a:pPr>
              <a:t>2/11/25</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06EE1364-2F28-FA4F-B534-1F0F7230BC47}" type="slidenum">
              <a:rPr lang="en-US" altLang="en-US"/>
              <a:pPr/>
              <a:t>‹#›</a:t>
            </a:fld>
            <a:endParaRPr lang="en-US" altLang="en-US"/>
          </a:p>
        </p:txBody>
      </p:sp>
    </p:spTree>
    <p:extLst>
      <p:ext uri="{BB962C8B-B14F-4D97-AF65-F5344CB8AC3E}">
        <p14:creationId xmlns:p14="http://schemas.microsoft.com/office/powerpoint/2010/main" val="3525708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pPr>
              <a:defRPr/>
            </a:pPr>
            <a:fld id="{A34EC261-C29D-6347-80DC-510A2B046509}" type="datetimeFigureOut">
              <a:rPr lang="en-US"/>
              <a:pPr>
                <a:defRPr/>
              </a:pPr>
              <a:t>2/11/25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EEF6115A-428D-6D4F-8DBA-6139B8EE1844}" type="slidenum">
              <a:rPr lang="en-US" altLang="en-US"/>
              <a:pPr/>
              <a:t>‹#›</a:t>
            </a:fld>
            <a:endParaRPr lang="en-US" altLang="en-US"/>
          </a:p>
        </p:txBody>
      </p:sp>
    </p:spTree>
    <p:extLst>
      <p:ext uri="{BB962C8B-B14F-4D97-AF65-F5344CB8AC3E}">
        <p14:creationId xmlns:p14="http://schemas.microsoft.com/office/powerpoint/2010/main" val="4278267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pPr>
              <a:defRPr/>
            </a:pPr>
            <a:fld id="{F862ACE4-3EDE-C644-BD8C-976767114D60}" type="datetimeFigureOut">
              <a:rPr lang="en-US"/>
              <a:pPr>
                <a:defRPr/>
              </a:pPr>
              <a:t>2/11/25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38E2AC51-013E-BD49-AEB6-6C21252D3929}" type="slidenum">
              <a:rPr lang="en-US" altLang="en-US"/>
              <a:pPr/>
              <a:t>‹#›</a:t>
            </a:fld>
            <a:endParaRPr lang="en-US" altLang="en-US"/>
          </a:p>
        </p:txBody>
      </p:sp>
    </p:spTree>
    <p:extLst>
      <p:ext uri="{BB962C8B-B14F-4D97-AF65-F5344CB8AC3E}">
        <p14:creationId xmlns:p14="http://schemas.microsoft.com/office/powerpoint/2010/main" val="3430695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fld id="{3859401B-3867-9C45-8FDB-30BCA3D0C043}" type="datetimeFigureOut">
              <a:rPr lang="en-US"/>
              <a:pPr>
                <a:defRPr/>
              </a:pPr>
              <a:t>2/11/25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0B6E2FDE-9E53-7544-8314-2F2C720D12B6}" type="slidenum">
              <a:rPr lang="en-US" altLang="en-US"/>
              <a:pPr/>
              <a:t>‹#›</a:t>
            </a:fld>
            <a:endParaRPr lang="en-US" altLang="en-US"/>
          </a:p>
        </p:txBody>
      </p:sp>
    </p:spTree>
    <p:extLst>
      <p:ext uri="{BB962C8B-B14F-4D97-AF65-F5344CB8AC3E}">
        <p14:creationId xmlns:p14="http://schemas.microsoft.com/office/powerpoint/2010/main" val="2175211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fld id="{970D50E2-61B4-A043-9B3D-BBCA444135F1}" type="datetimeFigureOut">
              <a:rPr lang="en-US"/>
              <a:pPr>
                <a:defRPr/>
              </a:pPr>
              <a:t>2/11/25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894D5868-9255-F449-A1E5-029724423BA1}" type="slidenum">
              <a:rPr lang="en-US" altLang="en-US"/>
              <a:pPr/>
              <a:t>‹#›</a:t>
            </a:fld>
            <a:endParaRPr lang="en-US" altLang="en-US"/>
          </a:p>
        </p:txBody>
      </p:sp>
    </p:spTree>
    <p:extLst>
      <p:ext uri="{BB962C8B-B14F-4D97-AF65-F5344CB8AC3E}">
        <p14:creationId xmlns:p14="http://schemas.microsoft.com/office/powerpoint/2010/main" val="4195051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EF30B0B-D3B4-9C42-A238-A05FC1B98C66}" type="datetimeFigureOut">
              <a:rPr lang="en-US"/>
              <a:pPr>
                <a:defRPr/>
              </a:pPr>
              <a:t>2/11/25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AAEA89-420F-8446-BC4B-A97D4103BDE2}" type="slidenum">
              <a:rPr lang="en-US" altLang="en-US"/>
              <a:pPr/>
              <a:t>‹#›</a:t>
            </a:fld>
            <a:endParaRPr lang="en-US" altLang="en-US"/>
          </a:p>
        </p:txBody>
      </p:sp>
    </p:spTree>
    <p:extLst>
      <p:ext uri="{BB962C8B-B14F-4D97-AF65-F5344CB8AC3E}">
        <p14:creationId xmlns:p14="http://schemas.microsoft.com/office/powerpoint/2010/main" val="394277457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6" name="Rectangle 2055">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Title 1">
            <a:extLst>
              <a:ext uri="{FF2B5EF4-FFF2-40B4-BE49-F238E27FC236}">
                <a16:creationId xmlns:a16="http://schemas.microsoft.com/office/drawing/2014/main" id="{CB5AC0CC-CE8F-00F0-CA03-8A7680668640}"/>
              </a:ext>
            </a:extLst>
          </p:cNvPr>
          <p:cNvSpPr>
            <a:spLocks noGrp="1"/>
          </p:cNvSpPr>
          <p:nvPr>
            <p:ph type="ctrTitle"/>
          </p:nvPr>
        </p:nvSpPr>
        <p:spPr>
          <a:xfrm>
            <a:off x="643468" y="643467"/>
            <a:ext cx="5585747" cy="4567137"/>
          </a:xfrm>
        </p:spPr>
        <p:txBody>
          <a:bodyPr>
            <a:normAutofit/>
          </a:bodyPr>
          <a:lstStyle/>
          <a:p>
            <a:pPr algn="l" eaLnBrk="1" hangingPunct="1"/>
            <a:r>
              <a:rPr lang="en-US" altLang="en-US" sz="4400">
                <a:latin typeface="Franklin Gothic Heavy" panose="020B0603020102020204" pitchFamily="34" charset="0"/>
              </a:rPr>
              <a:t>REKAYASA PERANGKAT LUNAK</a:t>
            </a:r>
          </a:p>
        </p:txBody>
      </p:sp>
      <p:sp>
        <p:nvSpPr>
          <p:cNvPr id="4" name="Subtitle 3">
            <a:extLst>
              <a:ext uri="{FF2B5EF4-FFF2-40B4-BE49-F238E27FC236}">
                <a16:creationId xmlns:a16="http://schemas.microsoft.com/office/drawing/2014/main" id="{B0D8DFE7-4215-006C-4CD9-9E583CA23E43}"/>
              </a:ext>
            </a:extLst>
          </p:cNvPr>
          <p:cNvSpPr>
            <a:spLocks noGrp="1"/>
          </p:cNvSpPr>
          <p:nvPr>
            <p:ph type="subTitle" idx="1"/>
          </p:nvPr>
        </p:nvSpPr>
        <p:spPr>
          <a:xfrm>
            <a:off x="643467" y="5277684"/>
            <a:ext cx="4620584" cy="775494"/>
          </a:xfrm>
        </p:spPr>
        <p:txBody>
          <a:bodyPr>
            <a:normAutofit/>
          </a:bodyPr>
          <a:lstStyle/>
          <a:p>
            <a:pPr algn="l">
              <a:buFont typeface="Arial" charset="0"/>
              <a:buNone/>
              <a:defRPr/>
            </a:pPr>
            <a:r>
              <a:rPr lang="id-ID"/>
              <a:t>01. Pendahuluan</a:t>
            </a:r>
          </a:p>
        </p:txBody>
      </p:sp>
      <p:pic>
        <p:nvPicPr>
          <p:cNvPr id="2052" name="Picture 2051">
            <a:extLst>
              <a:ext uri="{FF2B5EF4-FFF2-40B4-BE49-F238E27FC236}">
                <a16:creationId xmlns:a16="http://schemas.microsoft.com/office/drawing/2014/main" id="{A697F599-68AB-F47C-2826-1C4A155DAC52}"/>
              </a:ext>
            </a:extLst>
          </p:cNvPr>
          <p:cNvPicPr>
            <a:picLocks noChangeAspect="1"/>
          </p:cNvPicPr>
          <p:nvPr/>
        </p:nvPicPr>
        <p:blipFill rotWithShape="1">
          <a:blip r:embed="rId2"/>
          <a:srcRect l="34790"/>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0" name="Rectangle 8199">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Title 1">
            <a:extLst>
              <a:ext uri="{FF2B5EF4-FFF2-40B4-BE49-F238E27FC236}">
                <a16:creationId xmlns:a16="http://schemas.microsoft.com/office/drawing/2014/main" id="{78F47700-4EAF-774D-ABE0-B614C2F1C424}"/>
              </a:ext>
            </a:extLst>
          </p:cNvPr>
          <p:cNvSpPr>
            <a:spLocks noGrp="1"/>
          </p:cNvSpPr>
          <p:nvPr>
            <p:ph type="title"/>
          </p:nvPr>
        </p:nvSpPr>
        <p:spPr>
          <a:xfrm>
            <a:off x="6513788" y="365125"/>
            <a:ext cx="4840010" cy="1807305"/>
          </a:xfrm>
        </p:spPr>
        <p:txBody>
          <a:bodyPr>
            <a:normAutofit/>
          </a:bodyPr>
          <a:lstStyle/>
          <a:p>
            <a:pPr eaLnBrk="1" hangingPunct="1"/>
            <a:r>
              <a:rPr lang="en-US" altLang="en-US">
                <a:latin typeface="Franklin Gothic Demi" panose="020B0603020102020204" pitchFamily="34" charset="0"/>
              </a:rPr>
              <a:t>Definisi Perangkat Lunak</a:t>
            </a:r>
          </a:p>
        </p:txBody>
      </p:sp>
      <p:pic>
        <p:nvPicPr>
          <p:cNvPr id="8196" name="Picture 8195" descr="CPU dengan bilangan biner dan cetak biru">
            <a:extLst>
              <a:ext uri="{FF2B5EF4-FFF2-40B4-BE49-F238E27FC236}">
                <a16:creationId xmlns:a16="http://schemas.microsoft.com/office/drawing/2014/main" id="{F2659B71-E796-8F37-A822-839D04D63062}"/>
              </a:ext>
            </a:extLst>
          </p:cNvPr>
          <p:cNvPicPr>
            <a:picLocks noChangeAspect="1"/>
          </p:cNvPicPr>
          <p:nvPr/>
        </p:nvPicPr>
        <p:blipFill rotWithShape="1">
          <a:blip r:embed="rId2"/>
          <a:srcRect l="27866" r="21966"/>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5E7EE190-B374-93F0-E91E-F8CCFE133C58}"/>
              </a:ext>
            </a:extLst>
          </p:cNvPr>
          <p:cNvSpPr>
            <a:spLocks noGrp="1"/>
          </p:cNvSpPr>
          <p:nvPr>
            <p:ph idx="1"/>
          </p:nvPr>
        </p:nvSpPr>
        <p:spPr>
          <a:xfrm>
            <a:off x="6312024" y="2333297"/>
            <a:ext cx="5684500" cy="3843666"/>
          </a:xfrm>
        </p:spPr>
        <p:txBody>
          <a:bodyPr rtlCol="0">
            <a:noAutofit/>
          </a:bodyPr>
          <a:lstStyle/>
          <a:p>
            <a:pPr>
              <a:buNone/>
              <a:defRPr/>
            </a:pPr>
            <a:r>
              <a:rPr lang="en-US" sz="2400"/>
              <a:t>	</a:t>
            </a:r>
            <a:r>
              <a:rPr lang="en-US" sz="2400" i="1"/>
              <a:t>IEEE-Standar Glossary of Software Engineering Terminology, 1990:</a:t>
            </a:r>
          </a:p>
          <a:p>
            <a:pPr>
              <a:buNone/>
              <a:defRPr/>
            </a:pPr>
            <a:r>
              <a:rPr lang="en-US" sz="2400"/>
              <a:t>	Perangkat lunak merupakan kumpulan dari berbagai item (program, prosedur, dan dokumen data yang saling terkait) yang merepresentasikan masalah di dunia nyata yang dikonfigurasikan dalam satu bentuk aplikasi yang harus dikerjakan komputer.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36" name="Rectangle 9235">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238" name="Rectangle 9237">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235" name="Rectangle 9234">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18" name="Title 1">
            <a:extLst>
              <a:ext uri="{FF2B5EF4-FFF2-40B4-BE49-F238E27FC236}">
                <a16:creationId xmlns:a16="http://schemas.microsoft.com/office/drawing/2014/main" id="{FB7C0458-5CD1-3E9B-7515-1F9D5CCE89B0}"/>
              </a:ext>
            </a:extLst>
          </p:cNvPr>
          <p:cNvSpPr>
            <a:spLocks noGrp="1"/>
          </p:cNvSpPr>
          <p:nvPr>
            <p:ph type="title"/>
          </p:nvPr>
        </p:nvSpPr>
        <p:spPr>
          <a:xfrm>
            <a:off x="1115568" y="548640"/>
            <a:ext cx="10168128" cy="1179576"/>
          </a:xfrm>
        </p:spPr>
        <p:txBody>
          <a:bodyPr>
            <a:normAutofit/>
          </a:bodyPr>
          <a:lstStyle/>
          <a:p>
            <a:pPr eaLnBrk="1" hangingPunct="1"/>
            <a:r>
              <a:rPr lang="en-US" altLang="en-US" sz="4000">
                <a:latin typeface="Franklin Gothic Demi" panose="020B0603020102020204" pitchFamily="34" charset="0"/>
              </a:rPr>
              <a:t>Produk Perangkat Lunak (1)</a:t>
            </a:r>
          </a:p>
        </p:txBody>
      </p:sp>
      <p:sp>
        <p:nvSpPr>
          <p:cNvPr id="9237" name="Rectangle 9236">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3C687F2-8581-66BD-CD64-86695FF8DF16}"/>
              </a:ext>
            </a:extLst>
          </p:cNvPr>
          <p:cNvSpPr>
            <a:spLocks noGrp="1"/>
          </p:cNvSpPr>
          <p:nvPr>
            <p:ph idx="1"/>
          </p:nvPr>
        </p:nvSpPr>
        <p:spPr>
          <a:xfrm>
            <a:off x="1115568" y="2481943"/>
            <a:ext cx="10168128" cy="3695020"/>
          </a:xfrm>
        </p:spPr>
        <p:txBody>
          <a:bodyPr rtlCol="0">
            <a:normAutofit/>
          </a:bodyPr>
          <a:lstStyle/>
          <a:p>
            <a:pPr>
              <a:defRPr/>
            </a:pPr>
            <a:r>
              <a:rPr lang="en-US"/>
              <a:t>Perangkat lunak tidak sama dengan produk perangkat keras</a:t>
            </a:r>
          </a:p>
          <a:p>
            <a:pPr>
              <a:defRPr/>
            </a:pPr>
            <a:r>
              <a:rPr lang="en-US"/>
              <a:t>Produk perangkat lunak dikembangkan (developed) atau direkayasa (engineered), tidak dibuat seperti perangkat keras, misal komputer, mobil.</a:t>
            </a:r>
          </a:p>
          <a:p>
            <a:pPr>
              <a:defRPr/>
            </a:pPr>
            <a:r>
              <a:rPr lang="en-US"/>
              <a:t>Perangkat lunak secara pemakaian tidak pernah aus/usang layaknya suku cadang perangkat keras</a:t>
            </a:r>
          </a:p>
          <a:p>
            <a:pPr>
              <a:buNone/>
              <a:defRPr/>
            </a:pPr>
            <a:r>
              <a:rPr lang="en-US"/>
              <a:t> </a:t>
            </a:r>
          </a:p>
          <a:p>
            <a:pPr>
              <a:defRPr/>
            </a:pP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8" name="Rectangle 1024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a:extLst>
              <a:ext uri="{FF2B5EF4-FFF2-40B4-BE49-F238E27FC236}">
                <a16:creationId xmlns:a16="http://schemas.microsoft.com/office/drawing/2014/main" id="{C11FA0A4-028E-35CC-7C34-83A51604B2CE}"/>
              </a:ext>
            </a:extLst>
          </p:cNvPr>
          <p:cNvSpPr>
            <a:spLocks noGrp="1"/>
          </p:cNvSpPr>
          <p:nvPr>
            <p:ph type="title"/>
          </p:nvPr>
        </p:nvSpPr>
        <p:spPr>
          <a:xfrm>
            <a:off x="838200" y="365125"/>
            <a:ext cx="10515600" cy="1325563"/>
          </a:xfrm>
        </p:spPr>
        <p:txBody>
          <a:bodyPr>
            <a:normAutofit/>
          </a:bodyPr>
          <a:lstStyle/>
          <a:p>
            <a:pPr eaLnBrk="1" hangingPunct="1"/>
            <a:r>
              <a:rPr lang="en-US" altLang="en-US" sz="5400">
                <a:latin typeface="Franklin Gothic Demi" panose="020B0603020102020204" pitchFamily="34" charset="0"/>
              </a:rPr>
              <a:t>Produk Perangkat Lunak (2)</a:t>
            </a:r>
          </a:p>
        </p:txBody>
      </p:sp>
      <p:sp>
        <p:nvSpPr>
          <p:cNvPr id="1025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3" name="Content Placeholder 2">
            <a:extLst>
              <a:ext uri="{FF2B5EF4-FFF2-40B4-BE49-F238E27FC236}">
                <a16:creationId xmlns:a16="http://schemas.microsoft.com/office/drawing/2014/main" id="{6B2F3AC2-0F6A-D83E-FFC2-D110B2A16634}"/>
              </a:ext>
            </a:extLst>
          </p:cNvPr>
          <p:cNvSpPr>
            <a:spLocks noGrp="1"/>
          </p:cNvSpPr>
          <p:nvPr>
            <p:ph idx="1"/>
          </p:nvPr>
        </p:nvSpPr>
        <p:spPr>
          <a:xfrm>
            <a:off x="838200" y="1929384"/>
            <a:ext cx="10515600" cy="4251960"/>
          </a:xfrm>
        </p:spPr>
        <p:txBody>
          <a:bodyPr>
            <a:noAutofit/>
          </a:bodyPr>
          <a:lstStyle/>
          <a:p>
            <a:pPr eaLnBrk="1" hangingPunct="1">
              <a:buFont typeface="Arial" panose="020B0604020202020204" pitchFamily="34" charset="0"/>
              <a:buNone/>
            </a:pPr>
            <a:r>
              <a:rPr lang="en-US" altLang="en-US" sz="2400" b="1"/>
              <a:t>Bentuk produk perangkat lunak</a:t>
            </a:r>
            <a:r>
              <a:rPr lang="en-US" altLang="en-US" sz="2400"/>
              <a:t> </a:t>
            </a:r>
          </a:p>
          <a:p>
            <a:pPr eaLnBrk="1" hangingPunct="1"/>
            <a:r>
              <a:rPr lang="en-US" altLang="en-US" sz="2400" b="1"/>
              <a:t>Umum/generik </a:t>
            </a:r>
          </a:p>
          <a:p>
            <a:pPr eaLnBrk="1" hangingPunct="1">
              <a:buFont typeface="Arial" panose="020B0604020202020204" pitchFamily="34" charset="0"/>
              <a:buNone/>
            </a:pPr>
            <a:r>
              <a:rPr lang="en-US" altLang="en-US" sz="2400"/>
              <a:t>	Dibuat untuk keperluan yang luas dan tidak berdasarkan pada permintaan pihak tertentu.</a:t>
            </a:r>
          </a:p>
          <a:p>
            <a:pPr eaLnBrk="1" hangingPunct="1"/>
            <a:r>
              <a:rPr lang="en-US" altLang="en-US" sz="2400" b="1"/>
              <a:t>Pesanan/custom/tailored</a:t>
            </a:r>
            <a:endParaRPr lang="en-US" altLang="en-US" sz="2400"/>
          </a:p>
          <a:p>
            <a:pPr eaLnBrk="1" hangingPunct="1">
              <a:buFont typeface="Arial" panose="020B0604020202020204" pitchFamily="34" charset="0"/>
              <a:buNone/>
            </a:pPr>
            <a:r>
              <a:rPr lang="en-US" altLang="en-US" sz="2400"/>
              <a:t>	Dibuat spesifik sesuai sistem yang dibutuhkan oleh pemesan</a:t>
            </a:r>
          </a:p>
          <a:p>
            <a:pPr eaLnBrk="1" hangingPunct="1">
              <a:buFont typeface="Arial" panose="020B0604020202020204" pitchFamily="34" charset="0"/>
              <a:buNone/>
            </a:pPr>
            <a:r>
              <a:rPr lang="en-US" altLang="en-US" sz="240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9" name="Rectangle 1127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6" name="Title 1">
            <a:extLst>
              <a:ext uri="{FF2B5EF4-FFF2-40B4-BE49-F238E27FC236}">
                <a16:creationId xmlns:a16="http://schemas.microsoft.com/office/drawing/2014/main" id="{9E66D824-E38A-DB5A-C9F4-0CCC16048F02}"/>
              </a:ext>
            </a:extLst>
          </p:cNvPr>
          <p:cNvSpPr>
            <a:spLocks noGrp="1"/>
          </p:cNvSpPr>
          <p:nvPr>
            <p:ph type="title"/>
          </p:nvPr>
        </p:nvSpPr>
        <p:spPr>
          <a:xfrm>
            <a:off x="836680" y="0"/>
            <a:ext cx="7203537" cy="1495425"/>
          </a:xfrm>
        </p:spPr>
        <p:txBody>
          <a:bodyPr>
            <a:normAutofit/>
          </a:bodyPr>
          <a:lstStyle/>
          <a:p>
            <a:pPr eaLnBrk="1" hangingPunct="1"/>
            <a:r>
              <a:rPr lang="en-US" altLang="en-US" sz="4000">
                <a:latin typeface="Franklin Gothic Demi" panose="020B0603020102020204" pitchFamily="34" charset="0"/>
              </a:rPr>
              <a:t>Produk Perangkat Lunak (3)</a:t>
            </a:r>
          </a:p>
        </p:txBody>
      </p:sp>
      <p:sp>
        <p:nvSpPr>
          <p:cNvPr id="3" name="Content Placeholder 2">
            <a:extLst>
              <a:ext uri="{FF2B5EF4-FFF2-40B4-BE49-F238E27FC236}">
                <a16:creationId xmlns:a16="http://schemas.microsoft.com/office/drawing/2014/main" id="{AB0D0697-B3C3-EAD0-7DE2-5EEAD42C0F8B}"/>
              </a:ext>
            </a:extLst>
          </p:cNvPr>
          <p:cNvSpPr>
            <a:spLocks noGrp="1"/>
          </p:cNvSpPr>
          <p:nvPr>
            <p:ph idx="1"/>
          </p:nvPr>
        </p:nvSpPr>
        <p:spPr>
          <a:xfrm>
            <a:off x="836680" y="1340768"/>
            <a:ext cx="7707592" cy="4793333"/>
          </a:xfrm>
        </p:spPr>
        <p:txBody>
          <a:bodyPr rtlCol="0">
            <a:noAutofit/>
          </a:bodyPr>
          <a:lstStyle/>
          <a:p>
            <a:pPr marL="0" indent="0">
              <a:buNone/>
              <a:defRPr/>
            </a:pPr>
            <a:r>
              <a:rPr lang="en-US" sz="2400" b="1"/>
              <a:t>Karakteristik perangkat lunak yang baik</a:t>
            </a:r>
            <a:endParaRPr lang="en-US" sz="2400"/>
          </a:p>
          <a:p>
            <a:pPr>
              <a:defRPr/>
            </a:pPr>
            <a:r>
              <a:rPr lang="en-US" sz="2400"/>
              <a:t>Mempunyai daya guna yang tinggi (</a:t>
            </a:r>
            <a:r>
              <a:rPr lang="en-US" sz="2400" i="1"/>
              <a:t>usability</a:t>
            </a:r>
            <a:r>
              <a:rPr lang="en-US" sz="2400"/>
              <a:t>)</a:t>
            </a:r>
          </a:p>
          <a:p>
            <a:pPr>
              <a:defRPr/>
            </a:pPr>
            <a:r>
              <a:rPr lang="en-US" sz="2400"/>
              <a:t>Mempunyai kinerja sesuai fungsi yang dibutuhkan   pemakai</a:t>
            </a:r>
          </a:p>
          <a:p>
            <a:pPr>
              <a:defRPr/>
            </a:pPr>
            <a:r>
              <a:rPr lang="en-US" sz="2400"/>
              <a:t>Mampu diandalkan (</a:t>
            </a:r>
            <a:r>
              <a:rPr lang="en-US" sz="2400" i="1"/>
              <a:t>reliable</a:t>
            </a:r>
            <a:r>
              <a:rPr lang="en-US" sz="2400"/>
              <a:t>)</a:t>
            </a:r>
          </a:p>
          <a:p>
            <a:pPr>
              <a:defRPr/>
            </a:pPr>
            <a:r>
              <a:rPr lang="en-US" sz="2400"/>
              <a:t>Mudah dirawat/diperbaiki (</a:t>
            </a:r>
            <a:r>
              <a:rPr lang="en-US" sz="2400" i="1"/>
              <a:t>maintenability</a:t>
            </a:r>
            <a:r>
              <a:rPr lang="en-US" sz="2400"/>
              <a:t>)</a:t>
            </a:r>
          </a:p>
          <a:p>
            <a:pPr>
              <a:defRPr/>
            </a:pPr>
            <a:r>
              <a:rPr lang="en-US" sz="2400"/>
              <a:t>Lebih efisien</a:t>
            </a:r>
          </a:p>
          <a:p>
            <a:pPr>
              <a:defRPr/>
            </a:pPr>
            <a:r>
              <a:rPr lang="en-US" sz="2400"/>
              <a:t>Mempunyai antarmuka yang menarik (</a:t>
            </a:r>
            <a:r>
              <a:rPr lang="en-US" sz="2400" i="1"/>
              <a:t>eye cathcing user interface</a:t>
            </a:r>
            <a:r>
              <a:rPr lang="en-US" sz="2400"/>
              <a:t>)</a:t>
            </a:r>
          </a:p>
          <a:p>
            <a:pPr>
              <a:defRPr/>
            </a:pPr>
            <a:r>
              <a:rPr lang="en-US" sz="2400"/>
              <a:t>Mempunyai siklus hidup yang cukup lama (</a:t>
            </a:r>
            <a:r>
              <a:rPr lang="en-US" sz="2400" i="1"/>
              <a:t>long life time</a:t>
            </a:r>
            <a:r>
              <a:rPr lang="en-US" sz="2400"/>
              <a:t>)</a:t>
            </a:r>
          </a:p>
        </p:txBody>
      </p:sp>
      <p:pic>
        <p:nvPicPr>
          <p:cNvPr id="11268" name="Picture 11267" descr="Tampilan angka pasar saham">
            <a:extLst>
              <a:ext uri="{FF2B5EF4-FFF2-40B4-BE49-F238E27FC236}">
                <a16:creationId xmlns:a16="http://schemas.microsoft.com/office/drawing/2014/main" id="{939F06E5-10F4-E47D-5AF9-F933976430E7}"/>
              </a:ext>
            </a:extLst>
          </p:cNvPr>
          <p:cNvPicPr>
            <a:picLocks noChangeAspect="1"/>
          </p:cNvPicPr>
          <p:nvPr/>
        </p:nvPicPr>
        <p:blipFill rotWithShape="1">
          <a:blip r:embed="rId2"/>
          <a:srcRect l="26285" r="25121" b="-1"/>
          <a:stretch/>
        </p:blipFill>
        <p:spPr>
          <a:xfrm>
            <a:off x="8760296" y="10"/>
            <a:ext cx="3431704" cy="6857990"/>
          </a:xfrm>
          <a:prstGeom prst="rect">
            <a:avLst/>
          </a:prstGeom>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5" name="Rectangle 12294">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7" name="Freeform: Shape 12296">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290" name="Title 1">
            <a:extLst>
              <a:ext uri="{FF2B5EF4-FFF2-40B4-BE49-F238E27FC236}">
                <a16:creationId xmlns:a16="http://schemas.microsoft.com/office/drawing/2014/main" id="{48D9B0E6-7120-69A1-E2D5-6A4CA06AA886}"/>
              </a:ext>
            </a:extLst>
          </p:cNvPr>
          <p:cNvSpPr>
            <a:spLocks noGrp="1"/>
          </p:cNvSpPr>
          <p:nvPr>
            <p:ph type="title"/>
          </p:nvPr>
        </p:nvSpPr>
        <p:spPr>
          <a:xfrm>
            <a:off x="838200" y="365125"/>
            <a:ext cx="10515600" cy="1325563"/>
          </a:xfrm>
        </p:spPr>
        <p:txBody>
          <a:bodyPr>
            <a:normAutofit/>
          </a:bodyPr>
          <a:lstStyle/>
          <a:p>
            <a:pPr eaLnBrk="1" hangingPunct="1"/>
            <a:r>
              <a:rPr lang="en-US" altLang="en-US">
                <a:latin typeface="Franklin Gothic Demi" panose="020B0603020102020204" pitchFamily="34" charset="0"/>
              </a:rPr>
              <a:t>Jenis-jenis Aplikasi PL (1)</a:t>
            </a:r>
          </a:p>
        </p:txBody>
      </p:sp>
      <p:sp>
        <p:nvSpPr>
          <p:cNvPr id="12301" name="Arc 1230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9252465-1D1E-B761-F1F0-FBA384934F85}"/>
              </a:ext>
            </a:extLst>
          </p:cNvPr>
          <p:cNvSpPr>
            <a:spLocks noGrp="1"/>
          </p:cNvSpPr>
          <p:nvPr>
            <p:ph idx="1"/>
          </p:nvPr>
        </p:nvSpPr>
        <p:spPr>
          <a:xfrm>
            <a:off x="838200" y="1825625"/>
            <a:ext cx="10515600" cy="4351338"/>
          </a:xfrm>
        </p:spPr>
        <p:txBody>
          <a:bodyPr rtlCol="0">
            <a:normAutofit/>
          </a:bodyPr>
          <a:lstStyle/>
          <a:p>
            <a:pPr>
              <a:defRPr/>
            </a:pPr>
            <a:r>
              <a:rPr lang="en-US" sz="2600" b="1" err="1"/>
              <a:t>Perangkat</a:t>
            </a:r>
            <a:r>
              <a:rPr lang="en-US" sz="2600" b="1"/>
              <a:t> </a:t>
            </a:r>
            <a:r>
              <a:rPr lang="en-US" sz="2600" b="1" err="1"/>
              <a:t>lunak</a:t>
            </a:r>
            <a:r>
              <a:rPr lang="en-US" sz="2600" b="1"/>
              <a:t> </a:t>
            </a:r>
            <a:r>
              <a:rPr lang="en-US" sz="2600" b="1" err="1"/>
              <a:t>sistem</a:t>
            </a:r>
            <a:endParaRPr lang="en-US" sz="2600" b="1"/>
          </a:p>
          <a:p>
            <a:pPr>
              <a:buNone/>
              <a:defRPr/>
            </a:pPr>
            <a:r>
              <a:rPr lang="en-US" sz="2600"/>
              <a:t>	</a:t>
            </a:r>
            <a:r>
              <a:rPr lang="en-US" sz="2600" err="1"/>
              <a:t>Sekumpulan</a:t>
            </a:r>
            <a:r>
              <a:rPr lang="en-US" sz="2600"/>
              <a:t> program yang </a:t>
            </a:r>
            <a:r>
              <a:rPr lang="en-US" sz="2600" err="1"/>
              <a:t>ditulis</a:t>
            </a:r>
            <a:r>
              <a:rPr lang="en-US" sz="2600"/>
              <a:t> </a:t>
            </a:r>
            <a:r>
              <a:rPr lang="en-US" sz="2600" err="1"/>
              <a:t>untuk</a:t>
            </a:r>
            <a:r>
              <a:rPr lang="en-US" sz="2600"/>
              <a:t> </a:t>
            </a:r>
            <a:r>
              <a:rPr lang="en-US" sz="2600" err="1"/>
              <a:t>melayani</a:t>
            </a:r>
            <a:r>
              <a:rPr lang="en-US" sz="2600"/>
              <a:t> program-program lain</a:t>
            </a:r>
          </a:p>
          <a:p>
            <a:pPr>
              <a:buNone/>
              <a:defRPr/>
            </a:pPr>
            <a:r>
              <a:rPr lang="en-US" sz="2600"/>
              <a:t>	</a:t>
            </a:r>
            <a:r>
              <a:rPr lang="en-US" sz="2600" err="1"/>
              <a:t>Misal</a:t>
            </a:r>
            <a:r>
              <a:rPr lang="en-US" sz="2600"/>
              <a:t>: </a:t>
            </a:r>
            <a:r>
              <a:rPr lang="en-US" sz="2600" err="1"/>
              <a:t>sistem</a:t>
            </a:r>
            <a:r>
              <a:rPr lang="en-US" sz="2600"/>
              <a:t> </a:t>
            </a:r>
            <a:r>
              <a:rPr lang="en-US" sz="2600" err="1"/>
              <a:t>operasi</a:t>
            </a:r>
            <a:r>
              <a:rPr lang="en-US" sz="2600"/>
              <a:t>, driver, </a:t>
            </a:r>
            <a:r>
              <a:rPr lang="en-US" sz="2600" err="1"/>
              <a:t>kompilator</a:t>
            </a:r>
            <a:r>
              <a:rPr lang="en-US" sz="2600"/>
              <a:t>, interpreter, utility, </a:t>
            </a:r>
            <a:r>
              <a:rPr lang="en-US" sz="2600" err="1"/>
              <a:t>dll</a:t>
            </a:r>
            <a:endParaRPr lang="en-US" sz="2600"/>
          </a:p>
          <a:p>
            <a:pPr>
              <a:buNone/>
              <a:defRPr/>
            </a:pPr>
            <a:r>
              <a:rPr lang="en-US" sz="2600"/>
              <a:t> </a:t>
            </a:r>
          </a:p>
          <a:p>
            <a:pPr>
              <a:defRPr/>
            </a:pPr>
            <a:r>
              <a:rPr lang="en-US" sz="2600" b="1" err="1"/>
              <a:t>Perangkat</a:t>
            </a:r>
            <a:r>
              <a:rPr lang="en-US" sz="2600" b="1"/>
              <a:t> </a:t>
            </a:r>
            <a:r>
              <a:rPr lang="en-US" sz="2600" b="1" err="1"/>
              <a:t>lunak</a:t>
            </a:r>
            <a:r>
              <a:rPr lang="en-US" sz="2600" b="1"/>
              <a:t> </a:t>
            </a:r>
            <a:r>
              <a:rPr lang="en-US" sz="2600" b="1" err="1"/>
              <a:t>waktu</a:t>
            </a:r>
            <a:r>
              <a:rPr lang="en-US" sz="2600" b="1"/>
              <a:t> </a:t>
            </a:r>
            <a:r>
              <a:rPr lang="en-US" sz="2600" b="1" err="1"/>
              <a:t>nyata</a:t>
            </a:r>
            <a:r>
              <a:rPr lang="en-US" sz="2600" b="1"/>
              <a:t> (</a:t>
            </a:r>
            <a:r>
              <a:rPr lang="en-US" sz="2600" b="1" err="1"/>
              <a:t>realtime</a:t>
            </a:r>
            <a:r>
              <a:rPr lang="en-US" sz="2600" b="1"/>
              <a:t>)</a:t>
            </a:r>
          </a:p>
          <a:p>
            <a:pPr>
              <a:buNone/>
              <a:defRPr/>
            </a:pPr>
            <a:r>
              <a:rPr lang="en-US" sz="2600"/>
              <a:t>	</a:t>
            </a:r>
            <a:r>
              <a:rPr lang="en-US" sz="2600" err="1"/>
              <a:t>Perangkat</a:t>
            </a:r>
            <a:r>
              <a:rPr lang="en-US" sz="2600"/>
              <a:t> </a:t>
            </a:r>
            <a:r>
              <a:rPr lang="en-US" sz="2600" err="1"/>
              <a:t>lunak</a:t>
            </a:r>
            <a:r>
              <a:rPr lang="en-US" sz="2600"/>
              <a:t> yang </a:t>
            </a:r>
            <a:r>
              <a:rPr lang="en-US" sz="2600" err="1"/>
              <a:t>berfungsi</a:t>
            </a:r>
            <a:r>
              <a:rPr lang="en-US" sz="2600"/>
              <a:t> </a:t>
            </a:r>
            <a:r>
              <a:rPr lang="en-US" sz="2600" err="1"/>
              <a:t>untuk</a:t>
            </a:r>
            <a:r>
              <a:rPr lang="en-US" sz="2600"/>
              <a:t> </a:t>
            </a:r>
            <a:r>
              <a:rPr lang="en-US" sz="2600" err="1"/>
              <a:t>memonitor</a:t>
            </a:r>
            <a:r>
              <a:rPr lang="en-US" sz="2600"/>
              <a:t>, </a:t>
            </a:r>
            <a:r>
              <a:rPr lang="en-US" sz="2600" err="1"/>
              <a:t>menganalisis</a:t>
            </a:r>
            <a:r>
              <a:rPr lang="en-US" sz="2600"/>
              <a:t>, </a:t>
            </a:r>
            <a:r>
              <a:rPr lang="en-US" sz="2600" err="1"/>
              <a:t>mengontrol</a:t>
            </a:r>
            <a:r>
              <a:rPr lang="en-US" sz="2600"/>
              <a:t> </a:t>
            </a:r>
            <a:r>
              <a:rPr lang="en-US" sz="2600" err="1"/>
              <a:t>dan</a:t>
            </a:r>
            <a:r>
              <a:rPr lang="en-US" sz="2600"/>
              <a:t> </a:t>
            </a:r>
            <a:r>
              <a:rPr lang="en-US" sz="2600" err="1"/>
              <a:t>memberikan</a:t>
            </a:r>
            <a:r>
              <a:rPr lang="en-US" sz="2600"/>
              <a:t> </a:t>
            </a:r>
            <a:r>
              <a:rPr lang="en-US" sz="2600" err="1"/>
              <a:t>laporan</a:t>
            </a:r>
            <a:r>
              <a:rPr lang="en-US" sz="2600"/>
              <a:t> </a:t>
            </a:r>
            <a:r>
              <a:rPr lang="en-US" sz="2600" err="1"/>
              <a:t>tentang</a:t>
            </a:r>
            <a:r>
              <a:rPr lang="en-US" sz="2600"/>
              <a:t> </a:t>
            </a:r>
            <a:r>
              <a:rPr lang="en-US" sz="2600" err="1"/>
              <a:t>kejadian</a:t>
            </a:r>
            <a:r>
              <a:rPr lang="en-US" sz="2600"/>
              <a:t> </a:t>
            </a:r>
            <a:r>
              <a:rPr lang="en-US" sz="2600" err="1"/>
              <a:t>dunia</a:t>
            </a:r>
            <a:r>
              <a:rPr lang="en-US" sz="2600"/>
              <a:t> </a:t>
            </a:r>
            <a:r>
              <a:rPr lang="en-US" sz="2600" err="1"/>
              <a:t>nyata</a:t>
            </a:r>
            <a:r>
              <a:rPr lang="en-US" sz="2600"/>
              <a:t> </a:t>
            </a:r>
            <a:r>
              <a:rPr lang="en-US" sz="2600" err="1"/>
              <a:t>dan</a:t>
            </a:r>
            <a:r>
              <a:rPr lang="en-US" sz="2600"/>
              <a:t> </a:t>
            </a:r>
            <a:r>
              <a:rPr lang="en-US" sz="2600" err="1"/>
              <a:t>meresponnya</a:t>
            </a:r>
            <a:r>
              <a:rPr lang="en-US" sz="2600"/>
              <a:t> </a:t>
            </a:r>
            <a:r>
              <a:rPr lang="en-US" sz="2600" err="1"/>
              <a:t>dalam</a:t>
            </a:r>
            <a:r>
              <a:rPr lang="en-US" sz="2600"/>
              <a:t> </a:t>
            </a:r>
            <a:r>
              <a:rPr lang="en-US" sz="2600" err="1"/>
              <a:t>waktu</a:t>
            </a:r>
            <a:r>
              <a:rPr lang="en-US" sz="2600"/>
              <a:t> </a:t>
            </a:r>
            <a:r>
              <a:rPr lang="en-US" sz="2600" err="1"/>
              <a:t>kurang</a:t>
            </a:r>
            <a:r>
              <a:rPr lang="en-US" sz="2600"/>
              <a:t> </a:t>
            </a:r>
            <a:r>
              <a:rPr lang="en-US" sz="2600" err="1"/>
              <a:t>dari</a:t>
            </a:r>
            <a:r>
              <a:rPr lang="en-US" sz="2600"/>
              <a:t> 1 </a:t>
            </a:r>
            <a:r>
              <a:rPr lang="en-US" sz="2600" err="1"/>
              <a:t>menit</a:t>
            </a:r>
            <a:r>
              <a:rPr lang="en-US" sz="2600"/>
              <a:t>.</a:t>
            </a:r>
          </a:p>
          <a:p>
            <a:pPr>
              <a:buNone/>
              <a:defRPr/>
            </a:pPr>
            <a:r>
              <a:rPr lang="en-US" sz="2600"/>
              <a:t> 	</a:t>
            </a:r>
            <a:r>
              <a:rPr lang="en-US" sz="2600" err="1"/>
              <a:t>Misal</a:t>
            </a:r>
            <a:r>
              <a:rPr lang="en-US" sz="2600"/>
              <a:t>: </a:t>
            </a:r>
            <a:r>
              <a:rPr lang="en-US" sz="2600" err="1"/>
              <a:t>pengontrol</a:t>
            </a:r>
            <a:r>
              <a:rPr lang="en-US" sz="2600"/>
              <a:t> </a:t>
            </a:r>
            <a:r>
              <a:rPr lang="en-US" sz="2600" err="1"/>
              <a:t>arus</a:t>
            </a:r>
            <a:r>
              <a:rPr lang="en-US" sz="2600"/>
              <a:t> </a:t>
            </a:r>
            <a:r>
              <a:rPr lang="en-US" sz="2600" err="1"/>
              <a:t>udara</a:t>
            </a:r>
            <a:r>
              <a:rPr lang="en-US" sz="2600"/>
              <a:t>, </a:t>
            </a:r>
            <a:r>
              <a:rPr lang="en-US" sz="2600" err="1"/>
              <a:t>pengontrol</a:t>
            </a:r>
            <a:r>
              <a:rPr lang="en-US" sz="2600"/>
              <a:t> </a:t>
            </a:r>
            <a:r>
              <a:rPr lang="en-US" sz="2600" err="1"/>
              <a:t>reaksi</a:t>
            </a:r>
            <a:r>
              <a:rPr lang="en-US" sz="2600"/>
              <a:t> </a:t>
            </a:r>
            <a:r>
              <a:rPr lang="en-US" sz="2600" err="1"/>
              <a:t>nuklir,dll</a:t>
            </a:r>
            <a:endParaRPr lang="en-US" sz="2600"/>
          </a:p>
          <a:p>
            <a:pPr>
              <a:defRPr/>
            </a:pPr>
            <a:endParaRPr lang="en-US" sz="2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19" name="Rectangle 1331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1" name="Freeform: Shape 1332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314" name="Title 1">
            <a:extLst>
              <a:ext uri="{FF2B5EF4-FFF2-40B4-BE49-F238E27FC236}">
                <a16:creationId xmlns:a16="http://schemas.microsoft.com/office/drawing/2014/main" id="{8AFD944C-1D2E-A005-EA04-79D1D1E7477B}"/>
              </a:ext>
            </a:extLst>
          </p:cNvPr>
          <p:cNvSpPr>
            <a:spLocks noGrp="1"/>
          </p:cNvSpPr>
          <p:nvPr>
            <p:ph type="title"/>
          </p:nvPr>
        </p:nvSpPr>
        <p:spPr>
          <a:xfrm>
            <a:off x="838200" y="365125"/>
            <a:ext cx="10515600" cy="1325563"/>
          </a:xfrm>
        </p:spPr>
        <p:txBody>
          <a:bodyPr>
            <a:normAutofit/>
          </a:bodyPr>
          <a:lstStyle/>
          <a:p>
            <a:pPr eaLnBrk="1" hangingPunct="1"/>
            <a:r>
              <a:rPr lang="en-US" altLang="en-US">
                <a:latin typeface="Franklin Gothic Demi" panose="020B0603020102020204" pitchFamily="34" charset="0"/>
              </a:rPr>
              <a:t>Jenis-jenis Aplikasi PL (2)</a:t>
            </a:r>
          </a:p>
        </p:txBody>
      </p:sp>
      <p:sp>
        <p:nvSpPr>
          <p:cNvPr id="13323" name="Arc 133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4170C0D-D56F-38D2-1A65-30DFFA5A619B}"/>
              </a:ext>
            </a:extLst>
          </p:cNvPr>
          <p:cNvSpPr>
            <a:spLocks noGrp="1"/>
          </p:cNvSpPr>
          <p:nvPr>
            <p:ph idx="1"/>
          </p:nvPr>
        </p:nvSpPr>
        <p:spPr>
          <a:xfrm>
            <a:off x="838200" y="1825625"/>
            <a:ext cx="10515600" cy="4351338"/>
          </a:xfrm>
        </p:spPr>
        <p:txBody>
          <a:bodyPr rtlCol="0">
            <a:normAutofit/>
          </a:bodyPr>
          <a:lstStyle/>
          <a:p>
            <a:pPr>
              <a:defRPr/>
            </a:pPr>
            <a:r>
              <a:rPr lang="en-US" sz="2400" b="1" err="1"/>
              <a:t>Perangkat</a:t>
            </a:r>
            <a:r>
              <a:rPr lang="en-US" sz="2400" b="1"/>
              <a:t> </a:t>
            </a:r>
            <a:r>
              <a:rPr lang="en-US" sz="2400" b="1" err="1"/>
              <a:t>lunak</a:t>
            </a:r>
            <a:r>
              <a:rPr lang="en-US" sz="2400" b="1"/>
              <a:t> </a:t>
            </a:r>
            <a:r>
              <a:rPr lang="en-US" sz="2400" b="1" err="1"/>
              <a:t>teknik</a:t>
            </a:r>
            <a:r>
              <a:rPr lang="en-US" sz="2400" b="1"/>
              <a:t> </a:t>
            </a:r>
            <a:r>
              <a:rPr lang="en-US" sz="2400" b="1" err="1"/>
              <a:t>dan</a:t>
            </a:r>
            <a:r>
              <a:rPr lang="en-US" sz="2400" b="1"/>
              <a:t> </a:t>
            </a:r>
            <a:r>
              <a:rPr lang="en-US" sz="2400" b="1" err="1"/>
              <a:t>ilmu</a:t>
            </a:r>
            <a:r>
              <a:rPr lang="en-US" sz="2400" b="1"/>
              <a:t> </a:t>
            </a:r>
            <a:r>
              <a:rPr lang="en-US" sz="2400" b="1" err="1"/>
              <a:t>pengetahuan</a:t>
            </a:r>
            <a:endParaRPr lang="en-US" sz="2400" b="1"/>
          </a:p>
          <a:p>
            <a:pPr>
              <a:buNone/>
              <a:defRPr/>
            </a:pPr>
            <a:r>
              <a:rPr lang="en-US" sz="2400"/>
              <a:t>	(scientific &amp; engineering software) </a:t>
            </a:r>
          </a:p>
          <a:p>
            <a:pPr>
              <a:buNone/>
              <a:defRPr/>
            </a:pPr>
            <a:r>
              <a:rPr lang="en-US" sz="2400"/>
              <a:t>	</a:t>
            </a:r>
            <a:r>
              <a:rPr lang="en-US" sz="2400" err="1"/>
              <a:t>Perangkat</a:t>
            </a:r>
            <a:r>
              <a:rPr lang="en-US" sz="2400"/>
              <a:t> </a:t>
            </a:r>
            <a:r>
              <a:rPr lang="en-US" sz="2400" err="1"/>
              <a:t>lunak</a:t>
            </a:r>
            <a:r>
              <a:rPr lang="en-US" sz="2400"/>
              <a:t> yang </a:t>
            </a:r>
            <a:r>
              <a:rPr lang="en-US" sz="2400" err="1"/>
              <a:t>menangani</a:t>
            </a:r>
            <a:r>
              <a:rPr lang="en-US" sz="2400"/>
              <a:t> </a:t>
            </a:r>
            <a:r>
              <a:rPr lang="en-US" sz="2400" err="1"/>
              <a:t>bidang</a:t>
            </a:r>
            <a:r>
              <a:rPr lang="en-US" sz="2400"/>
              <a:t> </a:t>
            </a:r>
            <a:r>
              <a:rPr lang="en-US" sz="2400" err="1"/>
              <a:t>teknik</a:t>
            </a:r>
            <a:r>
              <a:rPr lang="en-US" sz="2400"/>
              <a:t> </a:t>
            </a:r>
            <a:r>
              <a:rPr lang="en-US" sz="2400" err="1"/>
              <a:t>dan</a:t>
            </a:r>
            <a:r>
              <a:rPr lang="en-US" sz="2400"/>
              <a:t> </a:t>
            </a:r>
            <a:r>
              <a:rPr lang="en-US" sz="2400" err="1"/>
              <a:t>ilmu</a:t>
            </a:r>
            <a:r>
              <a:rPr lang="en-US" sz="2400"/>
              <a:t> </a:t>
            </a:r>
            <a:r>
              <a:rPr lang="en-US" sz="2400" err="1"/>
              <a:t>pengetahuan</a:t>
            </a:r>
            <a:r>
              <a:rPr lang="en-US" sz="2400"/>
              <a:t> </a:t>
            </a:r>
            <a:r>
              <a:rPr lang="en-US" sz="2400" err="1"/>
              <a:t>secara</a:t>
            </a:r>
            <a:r>
              <a:rPr lang="en-US" sz="2400"/>
              <a:t> </a:t>
            </a:r>
            <a:r>
              <a:rPr lang="en-US" sz="2400" err="1"/>
              <a:t>rinci</a:t>
            </a:r>
            <a:endParaRPr lang="en-US" sz="2400"/>
          </a:p>
          <a:p>
            <a:pPr>
              <a:buNone/>
              <a:defRPr/>
            </a:pPr>
            <a:r>
              <a:rPr lang="en-US" sz="2400"/>
              <a:t>	</a:t>
            </a:r>
            <a:r>
              <a:rPr lang="en-US" sz="2400" err="1"/>
              <a:t>Misal</a:t>
            </a:r>
            <a:r>
              <a:rPr lang="en-US" sz="2400"/>
              <a:t>: </a:t>
            </a:r>
            <a:r>
              <a:rPr lang="en-US" sz="2400" err="1"/>
              <a:t>simulasi</a:t>
            </a:r>
            <a:r>
              <a:rPr lang="en-US" sz="2400"/>
              <a:t>, </a:t>
            </a:r>
            <a:r>
              <a:rPr lang="en-US" sz="2400" err="1"/>
              <a:t>astronomi</a:t>
            </a:r>
            <a:r>
              <a:rPr lang="en-US" sz="2400"/>
              <a:t>, </a:t>
            </a:r>
            <a:r>
              <a:rPr lang="en-US" sz="2400" err="1"/>
              <a:t>vulkanologi</a:t>
            </a:r>
            <a:r>
              <a:rPr lang="en-US" sz="2400"/>
              <a:t>, </a:t>
            </a:r>
            <a:r>
              <a:rPr lang="en-US" sz="2400" err="1"/>
              <a:t>analisis</a:t>
            </a:r>
            <a:r>
              <a:rPr lang="en-US" sz="2400"/>
              <a:t> </a:t>
            </a:r>
            <a:r>
              <a:rPr lang="en-US" sz="2400" err="1"/>
              <a:t>otomatif</a:t>
            </a:r>
            <a:r>
              <a:rPr lang="en-US" sz="2400"/>
              <a:t>, </a:t>
            </a:r>
            <a:r>
              <a:rPr lang="en-US" sz="2400" err="1"/>
              <a:t>dinamika</a:t>
            </a:r>
            <a:r>
              <a:rPr lang="en-US" sz="2400"/>
              <a:t> orbit </a:t>
            </a:r>
            <a:r>
              <a:rPr lang="en-US" sz="2400" err="1"/>
              <a:t>pesawat</a:t>
            </a:r>
            <a:r>
              <a:rPr lang="en-US" sz="2400"/>
              <a:t> </a:t>
            </a:r>
            <a:r>
              <a:rPr lang="en-US" sz="2400" err="1"/>
              <a:t>ruang</a:t>
            </a:r>
            <a:r>
              <a:rPr lang="en-US" sz="2400"/>
              <a:t> </a:t>
            </a:r>
            <a:r>
              <a:rPr lang="en-US" sz="2400" err="1"/>
              <a:t>angkasa</a:t>
            </a:r>
            <a:r>
              <a:rPr lang="en-US" sz="2400"/>
              <a:t>, </a:t>
            </a:r>
            <a:r>
              <a:rPr lang="en-US" sz="2400" err="1"/>
              <a:t>biologi</a:t>
            </a:r>
            <a:r>
              <a:rPr lang="en-US" sz="2400"/>
              <a:t> </a:t>
            </a:r>
            <a:r>
              <a:rPr lang="en-US" sz="2400" err="1"/>
              <a:t>molekuler</a:t>
            </a:r>
            <a:r>
              <a:rPr lang="en-US" sz="2400"/>
              <a:t>, </a:t>
            </a:r>
            <a:r>
              <a:rPr lang="en-US" sz="2400" err="1"/>
              <a:t>otomasi</a:t>
            </a:r>
            <a:r>
              <a:rPr lang="en-US" sz="2400"/>
              <a:t> </a:t>
            </a:r>
            <a:r>
              <a:rPr lang="en-US" sz="2400" err="1"/>
              <a:t>pabrik</a:t>
            </a:r>
            <a:r>
              <a:rPr lang="en-US" sz="2400"/>
              <a:t>, </a:t>
            </a:r>
            <a:r>
              <a:rPr lang="en-US" sz="2400" err="1"/>
              <a:t>dll</a:t>
            </a:r>
            <a:endParaRPr lang="en-US" sz="2400"/>
          </a:p>
          <a:p>
            <a:pPr>
              <a:buNone/>
              <a:defRPr/>
            </a:pPr>
            <a:r>
              <a:rPr lang="en-US" sz="2400"/>
              <a:t> </a:t>
            </a:r>
          </a:p>
          <a:p>
            <a:pPr>
              <a:defRPr/>
            </a:pPr>
            <a:r>
              <a:rPr lang="en-US" sz="2400" b="1" err="1"/>
              <a:t>Embeded</a:t>
            </a:r>
            <a:r>
              <a:rPr lang="en-US" sz="2400" b="1"/>
              <a:t> system</a:t>
            </a:r>
          </a:p>
          <a:p>
            <a:pPr>
              <a:buNone/>
              <a:defRPr/>
            </a:pPr>
            <a:r>
              <a:rPr lang="en-US" sz="2400"/>
              <a:t>	</a:t>
            </a:r>
            <a:r>
              <a:rPr lang="en-US" sz="2400" err="1"/>
              <a:t>Perangkat</a:t>
            </a:r>
            <a:r>
              <a:rPr lang="en-US" sz="2400"/>
              <a:t> </a:t>
            </a:r>
            <a:r>
              <a:rPr lang="en-US" sz="2400" err="1"/>
              <a:t>lunak</a:t>
            </a:r>
            <a:r>
              <a:rPr lang="en-US" sz="2400"/>
              <a:t> </a:t>
            </a:r>
            <a:r>
              <a:rPr lang="en-US" sz="2400" err="1"/>
              <a:t>yg</a:t>
            </a:r>
            <a:r>
              <a:rPr lang="en-US" sz="2400"/>
              <a:t> </a:t>
            </a:r>
            <a:r>
              <a:rPr lang="en-US" sz="2400" err="1"/>
              <a:t>ditempelkan</a:t>
            </a:r>
            <a:r>
              <a:rPr lang="en-US" sz="2400"/>
              <a:t>/</a:t>
            </a:r>
            <a:r>
              <a:rPr lang="en-US" sz="2400" err="1"/>
              <a:t>dilekatkan</a:t>
            </a:r>
            <a:r>
              <a:rPr lang="en-US" sz="2400"/>
              <a:t> </a:t>
            </a:r>
            <a:r>
              <a:rPr lang="en-US" sz="2400" err="1"/>
              <a:t>pada</a:t>
            </a:r>
            <a:r>
              <a:rPr lang="en-US" sz="2400"/>
              <a:t> </a:t>
            </a:r>
            <a:r>
              <a:rPr lang="en-US" sz="2400" err="1"/>
              <a:t>perangkat</a:t>
            </a:r>
            <a:r>
              <a:rPr lang="en-US" sz="2400"/>
              <a:t> </a:t>
            </a:r>
            <a:r>
              <a:rPr lang="en-US" sz="2400" err="1"/>
              <a:t>lainnya</a:t>
            </a:r>
            <a:r>
              <a:rPr lang="en-US" sz="2400"/>
              <a:t> (</a:t>
            </a:r>
            <a:r>
              <a:rPr lang="en-US" sz="2400" err="1"/>
              <a:t>lunak</a:t>
            </a:r>
            <a:r>
              <a:rPr lang="en-US" sz="2400"/>
              <a:t>/</a:t>
            </a:r>
            <a:r>
              <a:rPr lang="en-US" sz="2400" err="1"/>
              <a:t>keras</a:t>
            </a:r>
            <a:r>
              <a:rPr lang="en-US" sz="2400"/>
              <a:t>).</a:t>
            </a:r>
          </a:p>
          <a:p>
            <a:pPr>
              <a:buNone/>
              <a:defRPr/>
            </a:pPr>
            <a:r>
              <a:rPr lang="en-US" sz="2400"/>
              <a:t>	</a:t>
            </a:r>
            <a:r>
              <a:rPr lang="en-US" sz="2400" err="1"/>
              <a:t>Misal</a:t>
            </a:r>
            <a:r>
              <a:rPr lang="en-US" sz="2400"/>
              <a:t>: </a:t>
            </a:r>
            <a:r>
              <a:rPr lang="en-US" sz="2400" err="1"/>
              <a:t>pada</a:t>
            </a:r>
            <a:r>
              <a:rPr lang="en-US" sz="2400"/>
              <a:t> </a:t>
            </a:r>
            <a:r>
              <a:rPr lang="en-US" sz="2400" err="1"/>
              <a:t>kamera</a:t>
            </a:r>
            <a:r>
              <a:rPr lang="en-US" sz="2400"/>
              <a:t> digital, GPS, </a:t>
            </a:r>
            <a:r>
              <a:rPr lang="en-US" sz="2400" err="1"/>
              <a:t>automobil</a:t>
            </a:r>
            <a:r>
              <a:rPr lang="en-US" sz="2400"/>
              <a:t>, microwave, </a:t>
            </a:r>
            <a:r>
              <a:rPr lang="en-US" sz="2400" u="sng" err="1"/>
              <a:t>kulkas</a:t>
            </a:r>
            <a:r>
              <a:rPr lang="en-US" sz="2400" u="sng"/>
              <a:t> </a:t>
            </a:r>
            <a:r>
              <a:rPr lang="en-US" sz="2400" u="sng" err="1"/>
              <a:t>cerdas</a:t>
            </a:r>
            <a:r>
              <a:rPr lang="en-US" sz="2400"/>
              <a:t>, </a:t>
            </a:r>
            <a:r>
              <a:rPr lang="en-US" sz="2400" err="1"/>
              <a:t>dll</a:t>
            </a:r>
            <a:endParaRPr 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3" name="Rectangle 14342">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5" name="Freeform: Shape 14344">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338" name="Title 1">
            <a:extLst>
              <a:ext uri="{FF2B5EF4-FFF2-40B4-BE49-F238E27FC236}">
                <a16:creationId xmlns:a16="http://schemas.microsoft.com/office/drawing/2014/main" id="{458736D6-BCCB-64C1-D26F-2C84F06A6A25}"/>
              </a:ext>
            </a:extLst>
          </p:cNvPr>
          <p:cNvSpPr>
            <a:spLocks noGrp="1"/>
          </p:cNvSpPr>
          <p:nvPr>
            <p:ph type="title"/>
          </p:nvPr>
        </p:nvSpPr>
        <p:spPr>
          <a:xfrm>
            <a:off x="838200" y="365125"/>
            <a:ext cx="10515600" cy="1325563"/>
          </a:xfrm>
        </p:spPr>
        <p:txBody>
          <a:bodyPr>
            <a:normAutofit/>
          </a:bodyPr>
          <a:lstStyle/>
          <a:p>
            <a:pPr eaLnBrk="1" hangingPunct="1"/>
            <a:r>
              <a:rPr lang="en-US" altLang="en-US">
                <a:latin typeface="Franklin Gothic Demi" panose="020B0603020102020204" pitchFamily="34" charset="0"/>
              </a:rPr>
              <a:t>Jenis-jenis Aplikasi PL (3)</a:t>
            </a:r>
          </a:p>
        </p:txBody>
      </p:sp>
      <p:sp>
        <p:nvSpPr>
          <p:cNvPr id="14347" name="Arc 1434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DC0AD64-79A7-1A10-1382-BB3A4CB98521}"/>
              </a:ext>
            </a:extLst>
          </p:cNvPr>
          <p:cNvSpPr>
            <a:spLocks noGrp="1"/>
          </p:cNvSpPr>
          <p:nvPr>
            <p:ph idx="1"/>
          </p:nvPr>
        </p:nvSpPr>
        <p:spPr>
          <a:xfrm>
            <a:off x="838200" y="1825625"/>
            <a:ext cx="10515600" cy="4351338"/>
          </a:xfrm>
        </p:spPr>
        <p:txBody>
          <a:bodyPr rtlCol="0">
            <a:normAutofit/>
          </a:bodyPr>
          <a:lstStyle/>
          <a:p>
            <a:pPr>
              <a:defRPr/>
            </a:pPr>
            <a:r>
              <a:rPr lang="en-US" b="1" err="1"/>
              <a:t>Perangkat</a:t>
            </a:r>
            <a:r>
              <a:rPr lang="en-US" b="1"/>
              <a:t> </a:t>
            </a:r>
            <a:r>
              <a:rPr lang="en-US" b="1" err="1"/>
              <a:t>lunak</a:t>
            </a:r>
            <a:r>
              <a:rPr lang="en-US" b="1"/>
              <a:t> </a:t>
            </a:r>
            <a:r>
              <a:rPr lang="en-US" b="1" err="1"/>
              <a:t>pengolah</a:t>
            </a:r>
            <a:r>
              <a:rPr lang="en-US" b="1"/>
              <a:t> data (data processing)</a:t>
            </a:r>
          </a:p>
          <a:p>
            <a:pPr>
              <a:buNone/>
              <a:defRPr/>
            </a:pPr>
            <a:r>
              <a:rPr lang="en-US" dirty="0"/>
              <a:t>	</a:t>
            </a:r>
            <a:r>
              <a:rPr lang="en-US" dirty="0" err="1"/>
              <a:t>Perangkat</a:t>
            </a:r>
            <a:r>
              <a:rPr lang="en-US" dirty="0"/>
              <a:t> </a:t>
            </a:r>
            <a:r>
              <a:rPr lang="en-US" dirty="0" err="1"/>
              <a:t>lunak</a:t>
            </a:r>
            <a:r>
              <a:rPr lang="en-US" dirty="0"/>
              <a:t> yang </a:t>
            </a:r>
            <a:r>
              <a:rPr lang="en-US" dirty="0" err="1"/>
              <a:t>khusus</a:t>
            </a:r>
            <a:r>
              <a:rPr lang="en-US" dirty="0"/>
              <a:t> </a:t>
            </a:r>
            <a:r>
              <a:rPr lang="en-US" dirty="0" err="1"/>
              <a:t>digunakan</a:t>
            </a:r>
            <a:r>
              <a:rPr lang="en-US" dirty="0"/>
              <a:t> </a:t>
            </a:r>
            <a:r>
              <a:rPr lang="en-US" dirty="0" err="1"/>
              <a:t>untuk</a:t>
            </a:r>
            <a:r>
              <a:rPr lang="en-US" dirty="0"/>
              <a:t> </a:t>
            </a:r>
            <a:r>
              <a:rPr lang="en-US" dirty="0" err="1"/>
              <a:t>mengolah</a:t>
            </a:r>
            <a:r>
              <a:rPr lang="en-US" dirty="0"/>
              <a:t> data </a:t>
            </a:r>
            <a:r>
              <a:rPr lang="en-US" dirty="0" err="1"/>
              <a:t>dan</a:t>
            </a:r>
            <a:r>
              <a:rPr lang="en-US" dirty="0"/>
              <a:t> </a:t>
            </a:r>
            <a:r>
              <a:rPr lang="en-US" dirty="0" err="1"/>
              <a:t>menghasilkan</a:t>
            </a:r>
            <a:r>
              <a:rPr lang="en-US" dirty="0"/>
              <a:t> </a:t>
            </a:r>
            <a:r>
              <a:rPr lang="en-US" dirty="0" err="1"/>
              <a:t>suatu</a:t>
            </a:r>
            <a:r>
              <a:rPr lang="en-US" dirty="0"/>
              <a:t> </a:t>
            </a:r>
            <a:r>
              <a:rPr lang="en-US" dirty="0" err="1"/>
              <a:t>keputusan</a:t>
            </a:r>
            <a:r>
              <a:rPr lang="en-US" dirty="0"/>
              <a:t> </a:t>
            </a:r>
            <a:r>
              <a:rPr lang="en-US" dirty="0" err="1"/>
              <a:t>tertentu</a:t>
            </a:r>
            <a:r>
              <a:rPr lang="en-US" dirty="0"/>
              <a:t>.</a:t>
            </a:r>
          </a:p>
          <a:p>
            <a:pPr>
              <a:buNone/>
              <a:defRPr/>
            </a:pPr>
            <a:r>
              <a:rPr lang="en-US" dirty="0"/>
              <a:t>	</a:t>
            </a:r>
            <a:r>
              <a:rPr lang="en-US" dirty="0" err="1"/>
              <a:t>Misal</a:t>
            </a:r>
            <a:r>
              <a:rPr lang="en-US" dirty="0"/>
              <a:t>: billing </a:t>
            </a:r>
            <a:r>
              <a:rPr lang="en-US" dirty="0" err="1"/>
              <a:t>telepon</a:t>
            </a:r>
            <a:r>
              <a:rPr lang="en-US" dirty="0"/>
              <a:t>, </a:t>
            </a:r>
            <a:r>
              <a:rPr lang="en-US" dirty="0" err="1"/>
              <a:t>pengolah</a:t>
            </a:r>
            <a:r>
              <a:rPr lang="en-US" dirty="0"/>
              <a:t> </a:t>
            </a:r>
            <a:r>
              <a:rPr lang="en-US" dirty="0" err="1"/>
              <a:t>statistik</a:t>
            </a:r>
            <a:endParaRPr lang="en-US" dirty="0"/>
          </a:p>
          <a:p>
            <a:pPr>
              <a:buNone/>
              <a:defRPr/>
            </a:pPr>
            <a:r>
              <a:rPr lang="en-US" dirty="0"/>
              <a:t> </a:t>
            </a:r>
          </a:p>
          <a:p>
            <a:pPr>
              <a:defRPr/>
            </a:pPr>
            <a:r>
              <a:rPr lang="en-US" b="1" err="1"/>
              <a:t>Perangkat</a:t>
            </a:r>
            <a:r>
              <a:rPr lang="en-US" b="1"/>
              <a:t> </a:t>
            </a:r>
            <a:r>
              <a:rPr lang="en-US" b="1" err="1"/>
              <a:t>lunak</a:t>
            </a:r>
            <a:r>
              <a:rPr lang="en-US" b="1"/>
              <a:t> </a:t>
            </a:r>
            <a:r>
              <a:rPr lang="en-US" b="1" err="1"/>
              <a:t>sistem</a:t>
            </a:r>
            <a:r>
              <a:rPr lang="en-US" b="1"/>
              <a:t> </a:t>
            </a:r>
            <a:r>
              <a:rPr lang="en-US" b="1" err="1"/>
              <a:t>informasi</a:t>
            </a:r>
            <a:r>
              <a:rPr lang="en-US" b="1"/>
              <a:t> (information system)</a:t>
            </a:r>
          </a:p>
          <a:p>
            <a:pPr>
              <a:buNone/>
              <a:defRPr/>
            </a:pPr>
            <a:r>
              <a:rPr lang="en-US" dirty="0"/>
              <a:t>	</a:t>
            </a:r>
            <a:r>
              <a:rPr lang="en-US" dirty="0" err="1"/>
              <a:t>Perangkat</a:t>
            </a:r>
            <a:r>
              <a:rPr lang="en-US" dirty="0"/>
              <a:t> </a:t>
            </a:r>
            <a:r>
              <a:rPr lang="en-US" dirty="0" err="1"/>
              <a:t>lunak</a:t>
            </a:r>
            <a:r>
              <a:rPr lang="en-US" dirty="0"/>
              <a:t> yang </a:t>
            </a:r>
            <a:r>
              <a:rPr lang="en-US" dirty="0" err="1"/>
              <a:t>mampu</a:t>
            </a:r>
            <a:r>
              <a:rPr lang="en-US" dirty="0"/>
              <a:t> </a:t>
            </a:r>
            <a:r>
              <a:rPr lang="en-US" dirty="0" err="1"/>
              <a:t>memberi</a:t>
            </a:r>
            <a:r>
              <a:rPr lang="en-US" dirty="0"/>
              <a:t> </a:t>
            </a:r>
            <a:r>
              <a:rPr lang="en-US" dirty="0" err="1"/>
              <a:t>informasi</a:t>
            </a:r>
            <a:r>
              <a:rPr lang="en-US" dirty="0"/>
              <a:t> </a:t>
            </a:r>
            <a:r>
              <a:rPr lang="en-US" dirty="0" err="1"/>
              <a:t>dari</a:t>
            </a:r>
            <a:r>
              <a:rPr lang="en-US" dirty="0"/>
              <a:t> </a:t>
            </a:r>
            <a:r>
              <a:rPr lang="en-US" dirty="0" err="1"/>
              <a:t>suatu</a:t>
            </a:r>
            <a:r>
              <a:rPr lang="en-US" dirty="0"/>
              <a:t> </a:t>
            </a:r>
            <a:r>
              <a:rPr lang="en-US" dirty="0" err="1"/>
              <a:t>sistem</a:t>
            </a:r>
            <a:r>
              <a:rPr lang="en-US" dirty="0"/>
              <a:t> </a:t>
            </a:r>
            <a:r>
              <a:rPr lang="en-US" dirty="0" err="1"/>
              <a:t>secara</a:t>
            </a:r>
            <a:r>
              <a:rPr lang="en-US" dirty="0"/>
              <a:t> </a:t>
            </a:r>
            <a:r>
              <a:rPr lang="en-US" dirty="0" err="1"/>
              <a:t>lebih</a:t>
            </a:r>
            <a:r>
              <a:rPr lang="en-US" dirty="0"/>
              <a:t> detail.</a:t>
            </a:r>
          </a:p>
          <a:p>
            <a:pPr>
              <a:buNone/>
              <a:defRPr/>
            </a:pPr>
            <a:r>
              <a:rPr lang="en-US" dirty="0"/>
              <a:t> 	</a:t>
            </a:r>
            <a:r>
              <a:rPr lang="en-US" dirty="0" err="1"/>
              <a:t>Misal</a:t>
            </a:r>
            <a:r>
              <a:rPr lang="en-US" dirty="0"/>
              <a:t>: website, </a:t>
            </a:r>
            <a:r>
              <a:rPr lang="en-US" dirty="0" err="1"/>
              <a:t>perpustakaan</a:t>
            </a:r>
            <a:r>
              <a:rPr lang="en-US" dirty="0"/>
              <a:t> digital, </a:t>
            </a:r>
            <a:r>
              <a:rPr lang="en-US" dirty="0" err="1"/>
              <a:t>dll</a:t>
            </a:r>
            <a:r>
              <a:rPr lang="en-US" dirty="0"/>
              <a:t> </a:t>
            </a:r>
          </a:p>
          <a:p>
            <a:pPr>
              <a:defRPr/>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67" name="Rectangle 15366">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9" name="Freeform: Shape 15368">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362" name="Title 1">
            <a:extLst>
              <a:ext uri="{FF2B5EF4-FFF2-40B4-BE49-F238E27FC236}">
                <a16:creationId xmlns:a16="http://schemas.microsoft.com/office/drawing/2014/main" id="{70582700-BA25-9703-1972-D35B490EB6C5}"/>
              </a:ext>
            </a:extLst>
          </p:cNvPr>
          <p:cNvSpPr>
            <a:spLocks noGrp="1"/>
          </p:cNvSpPr>
          <p:nvPr>
            <p:ph type="title"/>
          </p:nvPr>
        </p:nvSpPr>
        <p:spPr>
          <a:xfrm>
            <a:off x="838200" y="365125"/>
            <a:ext cx="10515600" cy="1325563"/>
          </a:xfrm>
        </p:spPr>
        <p:txBody>
          <a:bodyPr>
            <a:normAutofit/>
          </a:bodyPr>
          <a:lstStyle/>
          <a:p>
            <a:pPr eaLnBrk="1" hangingPunct="1"/>
            <a:r>
              <a:rPr lang="en-US" altLang="en-US">
                <a:latin typeface="Franklin Gothic Demi" panose="020B0603020102020204" pitchFamily="34" charset="0"/>
              </a:rPr>
              <a:t>Jenis-jenis Aplikasi PL (4)</a:t>
            </a:r>
          </a:p>
        </p:txBody>
      </p:sp>
      <p:sp>
        <p:nvSpPr>
          <p:cNvPr id="15371" name="Arc 1537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ACE6393-E666-0EC3-C717-5A117419B980}"/>
              </a:ext>
            </a:extLst>
          </p:cNvPr>
          <p:cNvSpPr>
            <a:spLocks noGrp="1"/>
          </p:cNvSpPr>
          <p:nvPr>
            <p:ph idx="1"/>
          </p:nvPr>
        </p:nvSpPr>
        <p:spPr>
          <a:xfrm>
            <a:off x="838200" y="1825625"/>
            <a:ext cx="10515600" cy="4351338"/>
          </a:xfrm>
        </p:spPr>
        <p:txBody>
          <a:bodyPr rtlCol="0">
            <a:normAutofit/>
          </a:bodyPr>
          <a:lstStyle/>
          <a:p>
            <a:pPr>
              <a:defRPr/>
            </a:pPr>
            <a:r>
              <a:rPr lang="en-US" sz="2400" b="1" err="1"/>
              <a:t>Perangkat</a:t>
            </a:r>
            <a:r>
              <a:rPr lang="en-US" sz="2400" b="1"/>
              <a:t> </a:t>
            </a:r>
            <a:r>
              <a:rPr lang="en-US" sz="2400" b="1" err="1"/>
              <a:t>lunak</a:t>
            </a:r>
            <a:r>
              <a:rPr lang="en-US" sz="2400" b="1"/>
              <a:t> sensor</a:t>
            </a:r>
          </a:p>
          <a:p>
            <a:pPr>
              <a:buNone/>
              <a:defRPr/>
            </a:pPr>
            <a:r>
              <a:rPr lang="en-US" sz="2400"/>
              <a:t>	</a:t>
            </a:r>
            <a:r>
              <a:rPr lang="en-US" sz="2400" err="1"/>
              <a:t>Perangkat</a:t>
            </a:r>
            <a:r>
              <a:rPr lang="en-US" sz="2400"/>
              <a:t> </a:t>
            </a:r>
            <a:r>
              <a:rPr lang="en-US" sz="2400" err="1"/>
              <a:t>lunak</a:t>
            </a:r>
            <a:r>
              <a:rPr lang="en-US" sz="2400"/>
              <a:t> yang </a:t>
            </a:r>
            <a:r>
              <a:rPr lang="en-US" sz="2400" err="1"/>
              <a:t>mampu</a:t>
            </a:r>
            <a:r>
              <a:rPr lang="en-US" sz="2400"/>
              <a:t> </a:t>
            </a:r>
            <a:r>
              <a:rPr lang="en-US" sz="2400" err="1"/>
              <a:t>mengukur</a:t>
            </a:r>
            <a:r>
              <a:rPr lang="en-US" sz="2400"/>
              <a:t> </a:t>
            </a:r>
            <a:r>
              <a:rPr lang="en-US" sz="2400" err="1"/>
              <a:t>dan</a:t>
            </a:r>
            <a:r>
              <a:rPr lang="en-US" sz="2400"/>
              <a:t> </a:t>
            </a:r>
            <a:r>
              <a:rPr lang="en-US" sz="2400" err="1"/>
              <a:t>mengatur</a:t>
            </a:r>
            <a:r>
              <a:rPr lang="en-US" sz="2400"/>
              <a:t> </a:t>
            </a:r>
            <a:r>
              <a:rPr lang="en-US" sz="2400" err="1"/>
              <a:t>suatu</a:t>
            </a:r>
            <a:r>
              <a:rPr lang="en-US" sz="2400"/>
              <a:t> </a:t>
            </a:r>
            <a:r>
              <a:rPr lang="en-US" sz="2400" err="1"/>
              <a:t>keadaan</a:t>
            </a:r>
            <a:r>
              <a:rPr lang="en-US" sz="2400"/>
              <a:t> </a:t>
            </a:r>
            <a:r>
              <a:rPr lang="en-US" sz="2400" err="1"/>
              <a:t>khusus</a:t>
            </a:r>
            <a:r>
              <a:rPr lang="en-US" sz="2400"/>
              <a:t>, </a:t>
            </a:r>
            <a:r>
              <a:rPr lang="en-US" sz="2400" err="1"/>
              <a:t>kadang</a:t>
            </a:r>
            <a:r>
              <a:rPr lang="en-US" sz="2400"/>
              <a:t> </a:t>
            </a:r>
            <a:r>
              <a:rPr lang="en-US" sz="2400" err="1"/>
              <a:t>digolongkan</a:t>
            </a:r>
            <a:r>
              <a:rPr lang="en-US" sz="2400"/>
              <a:t> </a:t>
            </a:r>
            <a:r>
              <a:rPr lang="en-US" sz="2400" err="1"/>
              <a:t>dalam</a:t>
            </a:r>
            <a:r>
              <a:rPr lang="en-US" sz="2400"/>
              <a:t> embedded system </a:t>
            </a:r>
            <a:r>
              <a:rPr lang="en-US" sz="2400" err="1"/>
              <a:t>juga</a:t>
            </a:r>
            <a:r>
              <a:rPr lang="en-US" sz="2400"/>
              <a:t>.</a:t>
            </a:r>
          </a:p>
          <a:p>
            <a:pPr>
              <a:buNone/>
              <a:defRPr/>
            </a:pPr>
            <a:r>
              <a:rPr lang="en-US" sz="2400"/>
              <a:t>	</a:t>
            </a:r>
            <a:r>
              <a:rPr lang="en-US" sz="2400" err="1"/>
              <a:t>Misal</a:t>
            </a:r>
            <a:r>
              <a:rPr lang="en-US" sz="2400"/>
              <a:t>: </a:t>
            </a:r>
            <a:r>
              <a:rPr lang="en-US" sz="2400" err="1"/>
              <a:t>pengatur</a:t>
            </a:r>
            <a:r>
              <a:rPr lang="en-US" sz="2400"/>
              <a:t> </a:t>
            </a:r>
            <a:r>
              <a:rPr lang="en-US" sz="2400" err="1"/>
              <a:t>cuaca</a:t>
            </a:r>
            <a:r>
              <a:rPr lang="en-US" sz="2400"/>
              <a:t>, </a:t>
            </a:r>
            <a:r>
              <a:rPr lang="en-US" sz="2400" err="1"/>
              <a:t>pengatur</a:t>
            </a:r>
            <a:r>
              <a:rPr lang="en-US" sz="2400"/>
              <a:t> </a:t>
            </a:r>
            <a:r>
              <a:rPr lang="en-US" sz="2400" err="1"/>
              <a:t>suhu</a:t>
            </a:r>
            <a:r>
              <a:rPr lang="en-US" sz="2400"/>
              <a:t> </a:t>
            </a:r>
            <a:r>
              <a:rPr lang="en-US" sz="2400" err="1"/>
              <a:t>ruangan</a:t>
            </a:r>
            <a:r>
              <a:rPr lang="en-US" sz="2400"/>
              <a:t>, </a:t>
            </a:r>
            <a:r>
              <a:rPr lang="en-US" sz="2400" err="1"/>
              <a:t>dll</a:t>
            </a:r>
            <a:endParaRPr lang="en-US" sz="2400"/>
          </a:p>
          <a:p>
            <a:pPr>
              <a:buNone/>
              <a:defRPr/>
            </a:pPr>
            <a:r>
              <a:rPr lang="en-US" sz="2400"/>
              <a:t> </a:t>
            </a:r>
          </a:p>
          <a:p>
            <a:pPr>
              <a:defRPr/>
            </a:pPr>
            <a:r>
              <a:rPr lang="en-US" sz="2400" b="1" err="1"/>
              <a:t>Perangkat</a:t>
            </a:r>
            <a:r>
              <a:rPr lang="en-US" sz="2400" b="1"/>
              <a:t> </a:t>
            </a:r>
            <a:r>
              <a:rPr lang="en-US" sz="2400" b="1" err="1"/>
              <a:t>lunak</a:t>
            </a:r>
            <a:r>
              <a:rPr lang="en-US" sz="2400" b="1"/>
              <a:t> </a:t>
            </a:r>
            <a:r>
              <a:rPr lang="en-US" sz="2400" b="1" err="1"/>
              <a:t>komunikasi</a:t>
            </a:r>
            <a:r>
              <a:rPr lang="en-US" sz="2400" b="1"/>
              <a:t> (communication software)</a:t>
            </a:r>
          </a:p>
          <a:p>
            <a:pPr>
              <a:buNone/>
              <a:defRPr/>
            </a:pPr>
            <a:r>
              <a:rPr lang="en-US" sz="2400"/>
              <a:t>	</a:t>
            </a:r>
            <a:r>
              <a:rPr lang="en-US" sz="2400" err="1"/>
              <a:t>Perangkat</a:t>
            </a:r>
            <a:r>
              <a:rPr lang="en-US" sz="2400"/>
              <a:t> </a:t>
            </a:r>
            <a:r>
              <a:rPr lang="en-US" sz="2400" err="1"/>
              <a:t>lunak</a:t>
            </a:r>
            <a:r>
              <a:rPr lang="en-US" sz="2400"/>
              <a:t> yang </a:t>
            </a:r>
            <a:r>
              <a:rPr lang="en-US" sz="2400" err="1"/>
              <a:t>berfungsi</a:t>
            </a:r>
            <a:r>
              <a:rPr lang="en-US" sz="2400"/>
              <a:t> </a:t>
            </a:r>
            <a:r>
              <a:rPr lang="en-US" sz="2400" err="1"/>
              <a:t>untuk</a:t>
            </a:r>
            <a:r>
              <a:rPr lang="en-US" sz="2400"/>
              <a:t> </a:t>
            </a:r>
            <a:r>
              <a:rPr lang="en-US" sz="2400" err="1"/>
              <a:t>menghubungkan</a:t>
            </a:r>
            <a:r>
              <a:rPr lang="en-US" sz="2400"/>
              <a:t> </a:t>
            </a:r>
            <a:r>
              <a:rPr lang="en-US" sz="2400" err="1"/>
              <a:t>atau</a:t>
            </a:r>
            <a:r>
              <a:rPr lang="en-US" sz="2400"/>
              <a:t> </a:t>
            </a:r>
            <a:r>
              <a:rPr lang="en-US" sz="2400" err="1"/>
              <a:t>mengkomunikasikan</a:t>
            </a:r>
            <a:r>
              <a:rPr lang="en-US" sz="2400"/>
              <a:t> </a:t>
            </a:r>
            <a:r>
              <a:rPr lang="en-US" sz="2400" err="1"/>
              <a:t>suatu</a:t>
            </a:r>
            <a:r>
              <a:rPr lang="en-US" sz="2400"/>
              <a:t> </a:t>
            </a:r>
            <a:r>
              <a:rPr lang="en-US" sz="2400" err="1"/>
              <a:t>objek</a:t>
            </a:r>
            <a:r>
              <a:rPr lang="en-US" sz="2400"/>
              <a:t> </a:t>
            </a:r>
            <a:r>
              <a:rPr lang="en-US" sz="2400" err="1"/>
              <a:t>satu</a:t>
            </a:r>
            <a:r>
              <a:rPr lang="en-US" sz="2400"/>
              <a:t> </a:t>
            </a:r>
            <a:r>
              <a:rPr lang="en-US" sz="2400" err="1"/>
              <a:t>dengan</a:t>
            </a:r>
            <a:r>
              <a:rPr lang="en-US" sz="2400"/>
              <a:t> </a:t>
            </a:r>
            <a:r>
              <a:rPr lang="en-US" sz="2400" err="1"/>
              <a:t>lainnya</a:t>
            </a:r>
            <a:r>
              <a:rPr lang="en-US" sz="2400"/>
              <a:t>.</a:t>
            </a:r>
          </a:p>
          <a:p>
            <a:pPr>
              <a:buNone/>
              <a:defRPr/>
            </a:pPr>
            <a:r>
              <a:rPr lang="en-US" sz="2400"/>
              <a:t>	</a:t>
            </a:r>
            <a:r>
              <a:rPr lang="en-US" sz="2400" err="1"/>
              <a:t>Misal</a:t>
            </a:r>
            <a:r>
              <a:rPr lang="en-US" sz="2400"/>
              <a:t>: router, </a:t>
            </a:r>
            <a:r>
              <a:rPr lang="en-US" sz="2400" err="1"/>
              <a:t>handphone</a:t>
            </a:r>
            <a:r>
              <a:rPr lang="en-US" sz="2400"/>
              <a:t>, </a:t>
            </a:r>
            <a:r>
              <a:rPr lang="en-US" sz="2400" err="1"/>
              <a:t>dll</a:t>
            </a:r>
            <a:endParaRPr lang="en-US" sz="2400"/>
          </a:p>
          <a:p>
            <a:pPr>
              <a:buNone/>
              <a:defRPr/>
            </a:pPr>
            <a:r>
              <a:rPr lang="en-US" sz="2400"/>
              <a:t> </a:t>
            </a:r>
          </a:p>
          <a:p>
            <a:pPr>
              <a:defRPr/>
            </a:pPr>
            <a:endParaRPr 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1" name="Rectangle 16390">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3" name="Freeform: Shape 16392">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386" name="Title 1">
            <a:extLst>
              <a:ext uri="{FF2B5EF4-FFF2-40B4-BE49-F238E27FC236}">
                <a16:creationId xmlns:a16="http://schemas.microsoft.com/office/drawing/2014/main" id="{FAE57695-C4CD-AA01-1C0D-4B308A3A114F}"/>
              </a:ext>
            </a:extLst>
          </p:cNvPr>
          <p:cNvSpPr>
            <a:spLocks noGrp="1"/>
          </p:cNvSpPr>
          <p:nvPr>
            <p:ph type="title"/>
          </p:nvPr>
        </p:nvSpPr>
        <p:spPr>
          <a:xfrm>
            <a:off x="838200" y="365125"/>
            <a:ext cx="10515600" cy="1325563"/>
          </a:xfrm>
        </p:spPr>
        <p:txBody>
          <a:bodyPr>
            <a:normAutofit/>
          </a:bodyPr>
          <a:lstStyle/>
          <a:p>
            <a:pPr eaLnBrk="1" hangingPunct="1"/>
            <a:r>
              <a:rPr lang="en-US" altLang="en-US">
                <a:latin typeface="Franklin Gothic Demi" panose="020B0603020102020204" pitchFamily="34" charset="0"/>
              </a:rPr>
              <a:t>Jenis-jenis Aplikasi PL (5)</a:t>
            </a:r>
          </a:p>
        </p:txBody>
      </p:sp>
      <p:sp>
        <p:nvSpPr>
          <p:cNvPr id="16395" name="Arc 1639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C7D4852-5599-83B0-2AD9-9C2C7B909768}"/>
              </a:ext>
            </a:extLst>
          </p:cNvPr>
          <p:cNvSpPr>
            <a:spLocks noGrp="1"/>
          </p:cNvSpPr>
          <p:nvPr>
            <p:ph idx="1"/>
          </p:nvPr>
        </p:nvSpPr>
        <p:spPr>
          <a:xfrm>
            <a:off x="838200" y="1825625"/>
            <a:ext cx="10515600" cy="4351338"/>
          </a:xfrm>
        </p:spPr>
        <p:txBody>
          <a:bodyPr rtlCol="0">
            <a:normAutofit/>
          </a:bodyPr>
          <a:lstStyle/>
          <a:p>
            <a:pPr>
              <a:defRPr/>
            </a:pPr>
            <a:r>
              <a:rPr lang="en-US" b="1" err="1"/>
              <a:t>Perangkat</a:t>
            </a:r>
            <a:r>
              <a:rPr lang="en-US" b="1"/>
              <a:t> </a:t>
            </a:r>
            <a:r>
              <a:rPr lang="en-US" b="1" err="1"/>
              <a:t>lunak</a:t>
            </a:r>
            <a:r>
              <a:rPr lang="en-US" b="1"/>
              <a:t> </a:t>
            </a:r>
            <a:r>
              <a:rPr lang="en-US" b="1" err="1"/>
              <a:t>kantor</a:t>
            </a:r>
            <a:r>
              <a:rPr lang="en-US" b="1"/>
              <a:t> (offices)</a:t>
            </a:r>
          </a:p>
          <a:p>
            <a:pPr>
              <a:buNone/>
              <a:defRPr/>
            </a:pPr>
            <a:r>
              <a:rPr lang="en-US" dirty="0"/>
              <a:t>	</a:t>
            </a:r>
            <a:r>
              <a:rPr lang="en-US" dirty="0" err="1"/>
              <a:t>Perangkat</a:t>
            </a:r>
            <a:r>
              <a:rPr lang="en-US" dirty="0"/>
              <a:t> </a:t>
            </a:r>
            <a:r>
              <a:rPr lang="en-US" dirty="0" err="1"/>
              <a:t>lunak</a:t>
            </a:r>
            <a:r>
              <a:rPr lang="en-US" dirty="0"/>
              <a:t> yang </a:t>
            </a:r>
            <a:r>
              <a:rPr lang="en-US" dirty="0" err="1"/>
              <a:t>dirancang</a:t>
            </a:r>
            <a:r>
              <a:rPr lang="en-US" dirty="0"/>
              <a:t> </a:t>
            </a:r>
            <a:r>
              <a:rPr lang="en-US" dirty="0" err="1"/>
              <a:t>untuk</a:t>
            </a:r>
            <a:r>
              <a:rPr lang="en-US" dirty="0"/>
              <a:t> </a:t>
            </a:r>
            <a:r>
              <a:rPr lang="en-US" dirty="0" err="1"/>
              <a:t>membantu</a:t>
            </a:r>
            <a:r>
              <a:rPr lang="en-US" dirty="0"/>
              <a:t> </a:t>
            </a:r>
            <a:r>
              <a:rPr lang="en-US" dirty="0" err="1"/>
              <a:t>tugas-tugas</a:t>
            </a:r>
            <a:r>
              <a:rPr lang="en-US" dirty="0"/>
              <a:t> </a:t>
            </a:r>
            <a:r>
              <a:rPr lang="en-US" dirty="0" err="1"/>
              <a:t>perkantoran</a:t>
            </a:r>
            <a:r>
              <a:rPr lang="en-US" dirty="0"/>
              <a:t>.</a:t>
            </a:r>
          </a:p>
          <a:p>
            <a:pPr>
              <a:buNone/>
              <a:defRPr/>
            </a:pPr>
            <a:r>
              <a:rPr lang="en-US" dirty="0"/>
              <a:t>	</a:t>
            </a:r>
            <a:r>
              <a:rPr lang="en-US" dirty="0" err="1"/>
              <a:t>Misal</a:t>
            </a:r>
            <a:r>
              <a:rPr lang="en-US" dirty="0"/>
              <a:t>: word processing, </a:t>
            </a:r>
            <a:r>
              <a:rPr lang="en-US" dirty="0" err="1"/>
              <a:t>spreedsheet</a:t>
            </a:r>
            <a:r>
              <a:rPr lang="en-US" dirty="0"/>
              <a:t> processing, video conferences, </a:t>
            </a:r>
            <a:r>
              <a:rPr lang="en-US" dirty="0" err="1"/>
              <a:t>dll</a:t>
            </a:r>
            <a:endParaRPr lang="en-US" dirty="0"/>
          </a:p>
          <a:p>
            <a:pPr>
              <a:defRPr/>
            </a:pPr>
            <a:endParaRPr lang="en-US" dirty="0"/>
          </a:p>
          <a:p>
            <a:pPr>
              <a:defRPr/>
            </a:pPr>
            <a:r>
              <a:rPr lang="en-US" b="1" err="1"/>
              <a:t>Perangkat</a:t>
            </a:r>
            <a:r>
              <a:rPr lang="en-US" b="1"/>
              <a:t> </a:t>
            </a:r>
            <a:r>
              <a:rPr lang="en-US" b="1" err="1"/>
              <a:t>lunak</a:t>
            </a:r>
            <a:r>
              <a:rPr lang="en-US" b="1"/>
              <a:t> </a:t>
            </a:r>
            <a:r>
              <a:rPr lang="en-US" b="1" err="1"/>
              <a:t>pengolah</a:t>
            </a:r>
            <a:r>
              <a:rPr lang="en-US" b="1"/>
              <a:t> </a:t>
            </a:r>
            <a:r>
              <a:rPr lang="en-US" b="1" err="1"/>
              <a:t>grafis</a:t>
            </a:r>
            <a:endParaRPr lang="en-US" b="1"/>
          </a:p>
          <a:p>
            <a:pPr>
              <a:buNone/>
              <a:defRPr/>
            </a:pPr>
            <a:r>
              <a:rPr lang="en-US" dirty="0"/>
              <a:t>	</a:t>
            </a:r>
            <a:r>
              <a:rPr lang="en-US" dirty="0" err="1"/>
              <a:t>Perangkat</a:t>
            </a:r>
            <a:r>
              <a:rPr lang="en-US" dirty="0"/>
              <a:t> </a:t>
            </a:r>
            <a:r>
              <a:rPr lang="en-US" dirty="0" err="1"/>
              <a:t>lunak</a:t>
            </a:r>
            <a:r>
              <a:rPr lang="en-US" dirty="0"/>
              <a:t> yang </a:t>
            </a:r>
            <a:r>
              <a:rPr lang="en-US" dirty="0" err="1"/>
              <a:t>digunakan</a:t>
            </a:r>
            <a:r>
              <a:rPr lang="en-US" dirty="0"/>
              <a:t> </a:t>
            </a:r>
            <a:r>
              <a:rPr lang="en-US" dirty="0" err="1"/>
              <a:t>untuk</a:t>
            </a:r>
            <a:r>
              <a:rPr lang="en-US" dirty="0"/>
              <a:t> </a:t>
            </a:r>
            <a:r>
              <a:rPr lang="en-US" dirty="0" err="1"/>
              <a:t>melakukan</a:t>
            </a:r>
            <a:r>
              <a:rPr lang="en-US" dirty="0"/>
              <a:t> </a:t>
            </a:r>
            <a:r>
              <a:rPr lang="en-US" dirty="0" err="1"/>
              <a:t>perancangan</a:t>
            </a:r>
            <a:r>
              <a:rPr lang="en-US" dirty="0"/>
              <a:t> </a:t>
            </a:r>
            <a:r>
              <a:rPr lang="en-US" dirty="0" err="1"/>
              <a:t>grafis</a:t>
            </a:r>
            <a:endParaRPr lang="en-US" dirty="0"/>
          </a:p>
          <a:p>
            <a:pPr>
              <a:buNone/>
              <a:defRPr/>
            </a:pPr>
            <a:r>
              <a:rPr lang="en-US" dirty="0"/>
              <a:t>	</a:t>
            </a:r>
            <a:r>
              <a:rPr lang="en-US" dirty="0" err="1"/>
              <a:t>Misal</a:t>
            </a:r>
            <a:r>
              <a:rPr lang="en-US" dirty="0"/>
              <a:t>: </a:t>
            </a:r>
            <a:r>
              <a:rPr lang="en-US" dirty="0" err="1"/>
              <a:t>pembuatan</a:t>
            </a:r>
            <a:r>
              <a:rPr lang="en-US" dirty="0"/>
              <a:t> film, </a:t>
            </a:r>
            <a:r>
              <a:rPr lang="en-US" dirty="0" err="1"/>
              <a:t>pembuatan</a:t>
            </a:r>
            <a:r>
              <a:rPr lang="en-US" dirty="0"/>
              <a:t> poster</a:t>
            </a:r>
          </a:p>
          <a:p>
            <a:pPr>
              <a:defRPr/>
            </a:pPr>
            <a:endParaRPr lang="en-US" dirty="0"/>
          </a:p>
          <a:p>
            <a:pPr>
              <a:defRP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6" name="Rectangle 17415">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8" name="Freeform: Shape 17417">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410" name="Title 1">
            <a:extLst>
              <a:ext uri="{FF2B5EF4-FFF2-40B4-BE49-F238E27FC236}">
                <a16:creationId xmlns:a16="http://schemas.microsoft.com/office/drawing/2014/main" id="{D70BB95C-E066-8EA7-E629-9F6C4905BD69}"/>
              </a:ext>
            </a:extLst>
          </p:cNvPr>
          <p:cNvSpPr>
            <a:spLocks noGrp="1"/>
          </p:cNvSpPr>
          <p:nvPr>
            <p:ph type="title"/>
          </p:nvPr>
        </p:nvSpPr>
        <p:spPr>
          <a:xfrm>
            <a:off x="838200" y="365125"/>
            <a:ext cx="10515600" cy="1325563"/>
          </a:xfrm>
        </p:spPr>
        <p:txBody>
          <a:bodyPr>
            <a:normAutofit/>
          </a:bodyPr>
          <a:lstStyle/>
          <a:p>
            <a:pPr eaLnBrk="1" hangingPunct="1"/>
            <a:r>
              <a:rPr lang="en-US" altLang="en-US">
                <a:latin typeface="Franklin Gothic Demi" panose="020B0603020102020204" pitchFamily="34" charset="0"/>
              </a:rPr>
              <a:t>Jenis-jenis Aplikasi PL (6)</a:t>
            </a:r>
            <a:endParaRPr lang="en-US" altLang="en-US"/>
          </a:p>
        </p:txBody>
      </p:sp>
      <p:sp>
        <p:nvSpPr>
          <p:cNvPr id="17420" name="Arc 1741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411" name="Content Placeholder 2">
            <a:extLst>
              <a:ext uri="{FF2B5EF4-FFF2-40B4-BE49-F238E27FC236}">
                <a16:creationId xmlns:a16="http://schemas.microsoft.com/office/drawing/2014/main" id="{07DF9785-36F1-C924-189F-AB8CD664322E}"/>
              </a:ext>
            </a:extLst>
          </p:cNvPr>
          <p:cNvSpPr>
            <a:spLocks noGrp="1"/>
          </p:cNvSpPr>
          <p:nvPr>
            <p:ph idx="1"/>
          </p:nvPr>
        </p:nvSpPr>
        <p:spPr>
          <a:xfrm>
            <a:off x="838200" y="1825625"/>
            <a:ext cx="10515600" cy="4351338"/>
          </a:xfrm>
        </p:spPr>
        <p:txBody>
          <a:bodyPr>
            <a:normAutofit/>
          </a:bodyPr>
          <a:lstStyle/>
          <a:p>
            <a:pPr eaLnBrk="1" hangingPunct="1"/>
            <a:r>
              <a:rPr lang="en-US" altLang="en-US" b="1"/>
              <a:t>Perangkat lunak kecerdasan</a:t>
            </a:r>
          </a:p>
          <a:p>
            <a:pPr eaLnBrk="1" hangingPunct="1">
              <a:buFont typeface="Arial" panose="020B0604020202020204" pitchFamily="34" charset="0"/>
              <a:buNone/>
            </a:pPr>
            <a:r>
              <a:rPr lang="en-US" altLang="en-US"/>
              <a:t>	Perangkat lunak yang menggunakan algoritma  untuk memecahkan masalah kompleks yang tidak sesuai untuk perhitungan atau analisis secara langsung</a:t>
            </a:r>
          </a:p>
          <a:p>
            <a:pPr eaLnBrk="1" hangingPunct="1">
              <a:buFont typeface="Arial" panose="020B0604020202020204" pitchFamily="34" charset="0"/>
              <a:buNone/>
            </a:pPr>
            <a:r>
              <a:rPr lang="en-US" altLang="en-US"/>
              <a:t>	Misal: sistem pakar, game strategi, aplikasi jaringan saraf tiruan, dll</a:t>
            </a:r>
          </a:p>
          <a:p>
            <a:pPr eaLnBrk="1" hangingPunct="1"/>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5A1F3-A066-BF49-2FE9-6D6567B4E57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93E3BB9-89AB-882B-E600-C563785ABC80}"/>
              </a:ext>
            </a:extLst>
          </p:cNvPr>
          <p:cNvSpPr>
            <a:spLocks noGrp="1"/>
          </p:cNvSpPr>
          <p:nvPr>
            <p:ph type="title"/>
          </p:nvPr>
        </p:nvSpPr>
        <p:spPr>
          <a:xfrm>
            <a:off x="838201" y="365125"/>
            <a:ext cx="5251316" cy="1807305"/>
          </a:xfrm>
        </p:spPr>
        <p:txBody>
          <a:bodyPr>
            <a:normAutofit/>
          </a:bodyPr>
          <a:lstStyle/>
          <a:p>
            <a:pPr eaLnBrk="1" hangingPunct="1"/>
            <a:r>
              <a:rPr lang="en-US" altLang="en-US">
                <a:latin typeface="Franklin Gothic Demi" panose="020B0603020102020204" pitchFamily="34" charset="0"/>
              </a:rPr>
              <a:t>Lingkup Proyek Perangkat Lunak</a:t>
            </a:r>
          </a:p>
        </p:txBody>
      </p:sp>
      <p:pic>
        <p:nvPicPr>
          <p:cNvPr id="6149" name="Picture 6148" descr="Tiga panah pada sasaran">
            <a:extLst>
              <a:ext uri="{FF2B5EF4-FFF2-40B4-BE49-F238E27FC236}">
                <a16:creationId xmlns:a16="http://schemas.microsoft.com/office/drawing/2014/main" id="{93BA9F35-219D-FE77-A612-7BEE295DF573}"/>
              </a:ext>
            </a:extLst>
          </p:cNvPr>
          <p:cNvPicPr>
            <a:picLocks noChangeAspect="1"/>
          </p:cNvPicPr>
          <p:nvPr/>
        </p:nvPicPr>
        <p:blipFill rotWithShape="1">
          <a:blip r:embed="rId2"/>
          <a:srcRect l="41497" r="683"/>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6147" name="Content Placeholder 2">
            <a:extLst>
              <a:ext uri="{FF2B5EF4-FFF2-40B4-BE49-F238E27FC236}">
                <a16:creationId xmlns:a16="http://schemas.microsoft.com/office/drawing/2014/main" id="{A3CCD681-96C1-2C3F-5ACF-93E3BCDD3596}"/>
              </a:ext>
            </a:extLst>
          </p:cNvPr>
          <p:cNvSpPr>
            <a:spLocks noGrp="1"/>
          </p:cNvSpPr>
          <p:nvPr>
            <p:ph idx="1"/>
          </p:nvPr>
        </p:nvSpPr>
        <p:spPr>
          <a:xfrm>
            <a:off x="838200" y="2333297"/>
            <a:ext cx="6049888" cy="3843666"/>
          </a:xfrm>
        </p:spPr>
        <p:txBody>
          <a:bodyPr>
            <a:normAutofit/>
          </a:bodyPr>
          <a:lstStyle/>
          <a:p>
            <a:r>
              <a:rPr lang="en-US" altLang="en-US" sz="2400"/>
              <a:t>Pengembangan perangkat lunak</a:t>
            </a:r>
          </a:p>
          <a:p>
            <a:r>
              <a:rPr lang="en-US" altLang="en-US" sz="2400"/>
              <a:t>Pengembangan perangkat lunak, dan pengadaan perangkat keras</a:t>
            </a:r>
          </a:p>
          <a:p>
            <a:r>
              <a:rPr lang="en-US" altLang="en-US" sz="2400"/>
              <a:t>Pembenahan sistem prosedur, dan pengembangan perangkat lunak</a:t>
            </a:r>
          </a:p>
          <a:p>
            <a:r>
              <a:rPr lang="en-US" altLang="en-US" sz="2400"/>
              <a:t>Pembenahan sistem  prosedur, pengembangan perangkat lunak dan pengadaan perangkat keras</a:t>
            </a:r>
          </a:p>
          <a:p>
            <a:pPr eaLnBrk="1" hangingPunct="1"/>
            <a:endParaRPr lang="en-US" altLang="en-US" sz="2400"/>
          </a:p>
        </p:txBody>
      </p:sp>
    </p:spTree>
    <p:extLst>
      <p:ext uri="{BB962C8B-B14F-4D97-AF65-F5344CB8AC3E}">
        <p14:creationId xmlns:p14="http://schemas.microsoft.com/office/powerpoint/2010/main" val="1009224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5950F7-1092-BAAE-0E6D-DCFE2D0ED1E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8DD46D-D865-F71A-B182-F80AFE26DBFB}"/>
              </a:ext>
            </a:extLst>
          </p:cNvPr>
          <p:cNvSpPr>
            <a:spLocks noGrp="1"/>
          </p:cNvSpPr>
          <p:nvPr>
            <p:ph type="title"/>
          </p:nvPr>
        </p:nvSpPr>
        <p:spPr>
          <a:xfrm>
            <a:off x="838200" y="365125"/>
            <a:ext cx="10515600" cy="1325563"/>
          </a:xfrm>
        </p:spPr>
        <p:txBody>
          <a:bodyPr rtlCol="0">
            <a:normAutofit/>
          </a:bodyPr>
          <a:lstStyle/>
          <a:p>
            <a:pPr>
              <a:defRPr/>
            </a:pPr>
            <a:r>
              <a:rPr lang="en-US" sz="4600">
                <a:latin typeface="Franklin Gothic Demi" pitchFamily="34" charset="0"/>
              </a:rPr>
              <a:t>Rekayasa Perangkat Lunak</a:t>
            </a:r>
            <a:endParaRPr lang="en-US" sz="46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2D7C179-1582-3EDA-A10A-FE411AFF104E}"/>
              </a:ext>
            </a:extLst>
          </p:cNvPr>
          <p:cNvSpPr>
            <a:spLocks noGrp="1"/>
          </p:cNvSpPr>
          <p:nvPr>
            <p:ph idx="1"/>
          </p:nvPr>
        </p:nvSpPr>
        <p:spPr>
          <a:xfrm>
            <a:off x="908992" y="1929384"/>
            <a:ext cx="10515600" cy="4251960"/>
          </a:xfrm>
        </p:spPr>
        <p:txBody>
          <a:bodyPr rtlCol="0">
            <a:normAutofit fontScale="92500"/>
          </a:bodyPr>
          <a:lstStyle/>
          <a:p>
            <a:pPr>
              <a:defRPr/>
            </a:pPr>
            <a:r>
              <a:rPr lang="en-US" sz="2400"/>
              <a:t>RPL adalah disiplin ilmu yang mendalami cara-cara pengembangan perangkat lunak yang meliputi pembuatan, pemeliharaan, manajemen organisasi, dan manajemen kualitas)</a:t>
            </a:r>
          </a:p>
          <a:p>
            <a:pPr>
              <a:defRPr/>
            </a:pPr>
            <a:r>
              <a:rPr lang="en-US" sz="2400" b="1"/>
              <a:t>Inti yang akan dipelajari pada mata kuliah ini adalah ...</a:t>
            </a:r>
          </a:p>
          <a:p>
            <a:pPr>
              <a:buNone/>
              <a:defRPr/>
            </a:pPr>
            <a:r>
              <a:rPr lang="en-US" sz="2400"/>
              <a:t>	Mempelajari teknik-teknik dan tools yang digunakan dalam pembangunan perangkat lunak.</a:t>
            </a:r>
          </a:p>
          <a:p>
            <a:pPr>
              <a:buNone/>
              <a:defRPr/>
            </a:pPr>
            <a:endParaRPr lang="en-US" sz="2400"/>
          </a:p>
          <a:p>
            <a:pPr>
              <a:buNone/>
              <a:defRPr/>
            </a:pPr>
            <a:r>
              <a:rPr lang="en-US" sz="2400"/>
              <a:t>	Mata kuliah yang mendasari penguatan pemahaman dalam belajar RPL :</a:t>
            </a:r>
          </a:p>
          <a:p>
            <a:pPr lvl="1">
              <a:defRPr/>
            </a:pPr>
            <a:r>
              <a:rPr lang="en-US"/>
              <a:t>IMK</a:t>
            </a:r>
          </a:p>
          <a:p>
            <a:pPr lvl="1">
              <a:defRPr/>
            </a:pPr>
            <a:r>
              <a:rPr lang="en-US"/>
              <a:t>Konsep pemrograman</a:t>
            </a:r>
          </a:p>
          <a:p>
            <a:pPr lvl="1">
              <a:defRPr/>
            </a:pPr>
            <a:r>
              <a:rPr lang="en-US"/>
              <a:t>Algoritma pemrograman</a:t>
            </a:r>
          </a:p>
          <a:p>
            <a:pPr lvl="1">
              <a:defRPr/>
            </a:pPr>
            <a:r>
              <a:rPr lang="en-US"/>
              <a:t>Basisdata</a:t>
            </a:r>
          </a:p>
          <a:p>
            <a:pPr>
              <a:buNone/>
              <a:defRPr/>
            </a:pPr>
            <a:endParaRPr lang="en-US" sz="2400"/>
          </a:p>
          <a:p>
            <a:pPr>
              <a:defRPr/>
            </a:pPr>
            <a:endParaRPr lang="en-US" sz="2400"/>
          </a:p>
        </p:txBody>
      </p:sp>
    </p:spTree>
    <p:extLst>
      <p:ext uri="{BB962C8B-B14F-4D97-AF65-F5344CB8AC3E}">
        <p14:creationId xmlns:p14="http://schemas.microsoft.com/office/powerpoint/2010/main" val="3694217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67D51-241B-956C-2A3D-610C3CAAC3C0}"/>
              </a:ext>
            </a:extLst>
          </p:cNvPr>
          <p:cNvSpPr>
            <a:spLocks noGrp="1"/>
          </p:cNvSpPr>
          <p:nvPr>
            <p:ph type="title"/>
          </p:nvPr>
        </p:nvSpPr>
        <p:spPr/>
        <p:txBody>
          <a:bodyPr/>
          <a:lstStyle/>
          <a:p>
            <a:r>
              <a:rPr lang="en-US"/>
              <a:t>Tugas 1</a:t>
            </a:r>
          </a:p>
        </p:txBody>
      </p:sp>
      <p:sp>
        <p:nvSpPr>
          <p:cNvPr id="3" name="Content Placeholder 2">
            <a:extLst>
              <a:ext uri="{FF2B5EF4-FFF2-40B4-BE49-F238E27FC236}">
                <a16:creationId xmlns:a16="http://schemas.microsoft.com/office/drawing/2014/main" id="{2C872C05-F83F-B34B-6BA6-F6E202FEB40B}"/>
              </a:ext>
            </a:extLst>
          </p:cNvPr>
          <p:cNvSpPr>
            <a:spLocks noGrp="1"/>
          </p:cNvSpPr>
          <p:nvPr>
            <p:ph idx="1"/>
          </p:nvPr>
        </p:nvSpPr>
        <p:spPr/>
        <p:txBody>
          <a:bodyPr>
            <a:normAutofit fontScale="85000" lnSpcReduction="20000"/>
          </a:bodyPr>
          <a:lstStyle/>
          <a:p>
            <a:pPr marL="0" indent="0">
              <a:buNone/>
            </a:pPr>
            <a:r>
              <a:rPr lang="en-ID" b="1"/>
              <a:t>Studi Kasus: Analisis Jenis Perangkat Lunak dalam Kehidupan Nyata</a:t>
            </a:r>
          </a:p>
          <a:p>
            <a:pPr marL="0" indent="0">
              <a:buNone/>
            </a:pPr>
            <a:br>
              <a:rPr lang="en-ID"/>
            </a:br>
            <a:r>
              <a:rPr lang="en-ID"/>
              <a:t>Pilih </a:t>
            </a:r>
            <a:r>
              <a:rPr lang="en-ID" b="1"/>
              <a:t>3 jenis perangkat lunak</a:t>
            </a:r>
            <a:r>
              <a:rPr lang="en-ID"/>
              <a:t> dari yang telah dibahas (misalnya: perangkat lunak sistem, perangkat lunak waktu nyata, perangkat lunak kecerdasan) dan </a:t>
            </a:r>
            <a:r>
              <a:rPr lang="en-ID" b="1"/>
              <a:t>menganalisis aplikasi nyata</a:t>
            </a:r>
            <a:r>
              <a:rPr lang="en-ID"/>
              <a:t> yang sesuai (masing-masing satu). </a:t>
            </a:r>
          </a:p>
          <a:p>
            <a:pPr marL="0" indent="0">
              <a:buNone/>
            </a:pPr>
            <a:r>
              <a:rPr lang="en-ID"/>
              <a:t>Ketentuan:</a:t>
            </a:r>
          </a:p>
          <a:p>
            <a:pPr marL="514350" indent="-514350">
              <a:buFont typeface="+mj-lt"/>
              <a:buAutoNum type="arabicPeriod"/>
            </a:pPr>
            <a:r>
              <a:rPr lang="en-ID"/>
              <a:t>Jelaskan alasan kenapa menggolongkan </a:t>
            </a:r>
          </a:p>
          <a:p>
            <a:pPr marL="514350" indent="-514350">
              <a:buFont typeface="+mj-lt"/>
              <a:buAutoNum type="arabicPeriod"/>
            </a:pPr>
            <a:r>
              <a:rPr lang="en-ID"/>
              <a:t>Jelaskan </a:t>
            </a:r>
            <a:r>
              <a:rPr lang="en-ID" b="1"/>
              <a:t>fungsi utama</a:t>
            </a:r>
            <a:r>
              <a:rPr lang="en-ID"/>
              <a:t> dari aplikasi tersebut.</a:t>
            </a:r>
          </a:p>
          <a:p>
            <a:pPr marL="514350" indent="-514350">
              <a:buFont typeface="+mj-lt"/>
              <a:buAutoNum type="arabicPeriod"/>
            </a:pPr>
            <a:r>
              <a:rPr lang="en-ID"/>
              <a:t>Identifikasi </a:t>
            </a:r>
            <a:r>
              <a:rPr lang="en-ID" b="1"/>
              <a:t>karakteristik kualitas perangkat lunak</a:t>
            </a:r>
            <a:r>
              <a:rPr lang="en-ID"/>
              <a:t> (usability, reliability, maintainability, dll).</a:t>
            </a:r>
          </a:p>
          <a:p>
            <a:pPr marL="514350" indent="-514350">
              <a:buFont typeface="+mj-lt"/>
              <a:buAutoNum type="arabicPeriod"/>
            </a:pPr>
            <a:r>
              <a:rPr lang="en-ID"/>
              <a:t>Sertakan </a:t>
            </a:r>
            <a:r>
              <a:rPr lang="en-ID" b="1"/>
              <a:t>diagram atau ilustrasi</a:t>
            </a:r>
            <a:r>
              <a:rPr lang="en-ID"/>
              <a:t> bagaimana perangkat lunak tersebut bekerja.</a:t>
            </a:r>
          </a:p>
          <a:p>
            <a:pPr marL="514350" indent="-514350">
              <a:buFont typeface="+mj-lt"/>
              <a:buAutoNum type="arabicPeriod"/>
            </a:pPr>
            <a:r>
              <a:rPr lang="en-ID"/>
              <a:t>Perkirakan </a:t>
            </a:r>
            <a:r>
              <a:rPr lang="en-ID" b="1"/>
              <a:t>tantangan pengembangan</a:t>
            </a:r>
            <a:r>
              <a:rPr lang="en-ID"/>
              <a:t> perangkat lunak tersebut di masa sekarang dan yang akan datang</a:t>
            </a:r>
            <a:endParaRPr lang="en-US"/>
          </a:p>
        </p:txBody>
      </p:sp>
    </p:spTree>
    <p:extLst>
      <p:ext uri="{BB962C8B-B14F-4D97-AF65-F5344CB8AC3E}">
        <p14:creationId xmlns:p14="http://schemas.microsoft.com/office/powerpoint/2010/main" val="3834294180"/>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3489</TotalTime>
  <Words>821</Words>
  <Application>Microsoft Macintosh PowerPoint</Application>
  <PresentationFormat>Widescreen</PresentationFormat>
  <Paragraphs>97</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Calibri</vt:lpstr>
      <vt:lpstr>Calibri Light</vt:lpstr>
      <vt:lpstr>Franklin Gothic Demi</vt:lpstr>
      <vt:lpstr>Franklin Gothic Heavy</vt:lpstr>
      <vt:lpstr>Office 2013 - 2022 Theme</vt:lpstr>
      <vt:lpstr>REKAYASA PERANGKAT LUNAK</vt:lpstr>
      <vt:lpstr>Definisi Perangkat Lunak</vt:lpstr>
      <vt:lpstr>Produk Perangkat Lunak (1)</vt:lpstr>
      <vt:lpstr>Produk Perangkat Lunak (2)</vt:lpstr>
      <vt:lpstr>Produk Perangkat Lunak (3)</vt:lpstr>
      <vt:lpstr>Jenis-jenis Aplikasi PL (1)</vt:lpstr>
      <vt:lpstr>Jenis-jenis Aplikasi PL (2)</vt:lpstr>
      <vt:lpstr>Jenis-jenis Aplikasi PL (3)</vt:lpstr>
      <vt:lpstr>Jenis-jenis Aplikasi PL (4)</vt:lpstr>
      <vt:lpstr>Jenis-jenis Aplikasi PL (5)</vt:lpstr>
      <vt:lpstr>Jenis-jenis Aplikasi PL (6)</vt:lpstr>
      <vt:lpstr>Lingkup Proyek Perangkat Lunak</vt:lpstr>
      <vt:lpstr>Rekayasa Perangkat Lunak</vt:lpstr>
      <vt:lpstr>Tugas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REKAYASA PERANGKAT LUNAK</dc:title>
  <dc:creator>Dell</dc:creator>
  <cp:lastModifiedBy>Anggyi Trisnawan Putra</cp:lastModifiedBy>
  <cp:revision>60</cp:revision>
  <dcterms:created xsi:type="dcterms:W3CDTF">2012-02-29T03:47:07Z</dcterms:created>
  <dcterms:modified xsi:type="dcterms:W3CDTF">2025-02-11T06:06:48Z</dcterms:modified>
</cp:coreProperties>
</file>